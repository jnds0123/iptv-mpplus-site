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effect per property</c:v>
                </c:pt>
              </c:strCache>
            </c:strRef>
          </c:tx>
          <c:spPr>
            <a:solidFill>
              <a:srgbClr val="A87C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Ancillary revenue
(dining, spa and tours from the TV)</c:v>
                  </c:pt>
                  <c:pt idx="1">
                    <c:v>Vendor contracts consolidated
(TV, POS, concierge tooling)</c:v>
                  </c:pt>
                  <c:pt idx="2">
                    <c:v>Labour hours returned
(desk, outlets, night audit)</c:v>
                  </c:pt>
                  <c:pt idx="3">
                    <c:v>Set-top hardware avoided
(at TV refresh)</c:v>
                  </c:pt>
                  <c:pt idx="4">
                    <c:v>Direct booking
(where the property runs its own)</c:v>
                  </c:pt>
                  <c:pt idx="5">
                    <c:v>Radio and DECT fleet avoided
(staff handhelds are extensions)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0.54</c:v>
                </c:pt>
                <c:pt idx="2">
                  <c:v>0.47</c:v>
                </c:pt>
                <c:pt idx="3">
                  <c:v>0.33</c:v>
                </c:pt>
                <c:pt idx="4">
                  <c:v>0.29</c:v>
                </c:pt>
                <c:pt idx="5">
                  <c:v>0.19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A68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8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 is a group owner or operator, not an independent. Establish in the first minute that we are not proposing to replace the enterprise core — we are proposing to own the layer between that core and the guest, which today is a patchwork of property-level vendors.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framing that earns the meeting: we are not competing with the enterprise stack, we are fixing the layer beneath it. Ask how many TV vendors and POS systems the estate carries — the number is usually higher than head office expects.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not fabricated percentages. At proposal stage this slide becomes the group's real vendor count and spend, which is far more persuasive than a benchmark and is a number head office often cannot produce on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operator the word that matters is 'converges'. Every year of local procurement pushes the estate further apart; this is the first layer that pulls it back together without touching the enterprise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group's IT function will test you on. The honest position — scoped per vendor, agreed before pilot, no generic connector — is what separates a credible integration story from a slideware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Voice is the newest module and the easiest sell to a property that already runs a PBX: it is the only one that adds a guest-facing device without adding a platform, because the handset registers to the SIP system they already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step six hard. Preference portability across the estate is a genuine group advantage that independents structurally cannot match, and most groups fail to deliver it below the loyalty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 For a group, the interesting word is 'centrally' — document risk currently sits with each property and is invisible to head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Per-jurisdiction register export is the detail that matters to a cross-border operator — the obligation differs by market and is currently met manually, differently, in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'Loyalty gets substance' is the line for the operator: the enterprise programme knows transactions, not preferences. This feeds it the texture it has never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Conceding room inventory to the CRS is what makes the rest of the pitch credible. A vendor who claims to replace central reservations is shown the door; a vendor who claims the ancillary layer is filling a real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Tokenisation keeps the property on the light-touch PCI self-assessment. For a group with a hundred properties that is a hundred audits made cheaper, which is a procurement argument as much as a technical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Outlet margin rolling up to the group is the F&amp;B point head office cares about — most estates can see outlet revenue and cannot see outlet profitability without a manual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 standard reporting is the operator's hook. Today SLA attainment is measured by mystery shopper and self-report; this measures it continuously as a by-product of doing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entertainment story. The framing for a group is consistency, not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 on this slide is the real interface, not an illustration — the same rail, featured card and rows a subscriber sees at home. That is the point: the hotel is not commissioning a bespoke TV system, it is switching on a hospitality mode in a product that already ships. Volunteer the checkout wipe before IT asks; every group has been burned by a guest finding the previous occupant's signed-in streaming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Raise the Android-SKU caveat yourself. For an owner it lands as a capex-timing question, not an objection: the platform aligns to the television refresh cycle already in the plan, and Android hospitality sets are the cheapest end of that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Committing to Android is a strength, not a limitation — say it that way. One codebase instead of four, one MDM enrolment, and hardware the group can buy in any market. The cost is honest and on the slide: a Samsung or LG estate needs a small Android device until refresh, so establish early which sets a given property actually 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slide plainly; it is the one a hotel's legal team will test. We are a player and a verification service, not a content supplier — the property brings sources it already has the right to show, which is usually its existing linear contract plus free ad-supported channels. That is an easier sale than it sounds: the group keeps its content deals and gets a better player, rather than being asked to switch supplier. Never imply the platform brings a licensed library, and never let a community link list near a hospitality deployment — a hotel showing an unlicensed stream is publicly performing it commercially, and that is the property's liability and the fastest way to lose the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to lead with in the room. First, this is the cheapest module to say yes to: the PBX, the handsets and the numbering plan already exist, so the work is integration rather than replacement. Second, emergency calling — direct dial with no prefix, desk notification and a per-room dispatchable location are legal requirements in several markets and are the fastest way to find out whether a property's current telephony is actually compliant.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early in the meeting which side of this slide the room sits on. A deck that pitches operator benefits to an owner, or capex savings to a brand team, loses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caveat out loud. For an enterprise buyer, offering to rebuild the model on their numbers during the systems audit is the ask that converts this meeting into a second one. If someone asks why call revenue is not a bar: it has been falling for twenty years and pretending otherwise costs you credibility on every other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exact here. Enterprise procurement will ask for the SOC 2 report; promising it on a date is credible, implying it exists is a deal-ending discovery. Update this slide the moment the audit completes.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is the credibility move. Volunteering a measurement gate before estate commitment is what an enterprise buyer expects and what most vendors avoid offering.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audit and the integration scoping, not on the product. Both are low-commitment yeses, and both produce the facts every later conversation depends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863840" y="-1005840"/>
            <a:ext cx="2926080" cy="5669280"/>
          </a:xfrm>
          <a:prstGeom prst="roundRect">
            <a:avLst>
              <a:gd name="adj" fmla="val 6250"/>
            </a:avLst>
          </a:prstGeom>
          <a:solidFill>
            <a:srgbClr val="D4A94A">
              <a:alpha val="10000"/>
            </a:srgbClr>
          </a:solidFill>
          <a:ln w="12700">
            <a:solidFill>
              <a:srgbClr val="D4A94A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080000">
            <a:off x="9509760" y="365760"/>
            <a:ext cx="2743200" cy="5852160"/>
          </a:xfrm>
          <a:prstGeom prst="roundRect">
            <a:avLst>
              <a:gd name="adj" fmla="val 6667"/>
            </a:avLst>
          </a:prstGeom>
          <a:solidFill>
            <a:srgbClr val="3FB6A8">
              <a:alpha val="8000"/>
            </a:srgbClr>
          </a:solidFill>
          <a:ln w="12700">
            <a:solidFill>
              <a:srgbClr val="3FB6A8">
                <a:alpha val="18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HOTEL OWNERS AND OPERATORS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Orpheus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Hospitality Suite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22192"/>
            <a:ext cx="6903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property-level guest experience layer — in-room entertainment, dining, concierge, facility booking, payments and digital documents — running on one guest record and plugged into the enterprise systems you already own.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53218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3218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Android app. No set-top box.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840480" y="53218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53218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Orpheus Nations.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is solved. The last mile is not.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reservations, the property management system and the loyalty programme are enterprise-grade and estate-wide. Below them, the systems the guest actually touches were bought property by property, from whoever was local.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257800" cy="3246120"/>
          </a:xfrm>
          <a:prstGeom prst="roundRect">
            <a:avLst>
              <a:gd name="adj" fmla="val 2535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ESTATE-WIDE, ENTERPRISE, YOURS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358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2735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inventory, one rate strategy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6576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 system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895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Opera-class, standardised across the estate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427939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loyalty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programme, one member identity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 and reporting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to the group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3640" y="2331720"/>
            <a:ext cx="5287975" cy="3246120"/>
          </a:xfrm>
          <a:prstGeom prst="roundRect">
            <a:avLst>
              <a:gd name="adj" fmla="val 2535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2578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BY PROPERTY, LOCAL, INCONSISTENT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30358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television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11112" y="327355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the hardware, different vendor per site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3657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and bar point of sale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89534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two systems, rarely reporting to the group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27939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and service requests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451713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Radio, paper log, or a spreadsheet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611112" y="49011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identity documents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11112" y="5138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Photocopied, filed, retained indefinitely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 AT ESTATE SCALE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fragmentation is paid at the group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site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contracts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TV, POS, concierge and document handling procured locally — renewed locally, audited locally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93592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9624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Uneven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849624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experience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849624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brand promise delivered differently in every property the guest visits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47104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03136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803136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data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803136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outlet, spa and in-room revenue that never rolls up cleanly to the group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0616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56648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Siloed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9756648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risk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756648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documents held at property level, with no estate-wide retention control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 of multi-property estates with locally procured guest-facing systems. Replaced with the group's own vendor inventory at proposal stage.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guest layer. Every property.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is identified once and read by every surface below the enterprise stack — consistently, in every property, whatever the brand standard requires.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480560" y="3310128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480560" y="3465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RECORD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3776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preferences · history · consent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9738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044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7774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0080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TV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5810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8116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8116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mobile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53846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08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&amp; bar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9738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52044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7774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0080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&amp; folio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5810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116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28116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reporting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3846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53492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model, repeated per property — so the estate converges instead of diverging.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sit in your stack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replace central reservations, the property management system, or the loyalty programme. We consume them, and we own the layer they do not reach.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84832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2128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— ENTERPRISE, UNCHANGED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32688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70832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70832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loyalty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089904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9904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 PBX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808976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08976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28048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28048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737360" y="3035808"/>
            <a:ext cx="0" cy="27432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headEnd type="triangl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515600" y="3035808"/>
            <a:ext cx="0" cy="27432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headEnd type="triangle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40080" y="306324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&amp; stay sync  ·  folio posting  ·  loyalty accrual  ·  call records  ·  single sign-on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38328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32688" y="35112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— THE PROPERTY GUEST LAYER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2688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1832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docs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965046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974190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997403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06547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29761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38905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062118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71262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folio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94476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03620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F&amp;B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126834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5978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service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8159191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68335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PBX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191549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00693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TV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0223906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233050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data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737360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6099048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0515600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640080" y="49834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32688" y="50932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651760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TV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3763670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phone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4875581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mobile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5987491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on site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7099402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8211312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display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9323222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0435133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view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2651760" y="5468112"/>
            <a:ext cx="4443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guest-facing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7095744" y="5468112"/>
            <a:ext cx="4443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staff-facing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is scoped per PMS and per loyalty platform. We do not promise a generic connector — the interface is agreed before the pilot.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modules, one platform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Documents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Scanning, OCR, e-signature, secure vault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76702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77870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7870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77870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Profile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077870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Preferences, allergies, history, consent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113325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14493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14493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14493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14493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engine, pre-arrival upsell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49947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51115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51115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51115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51115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spa, function rooms, tours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586570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87738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7738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787738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Folio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787738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Cards, wallets, room charge, settlement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1248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41248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Restaurant, bar, in-room dining, kitchen display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76702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077870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77870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077870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&amp; Service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3077870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SLA ticketing, housekeeping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13325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314493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14493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14493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5314493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TV app, live and on-demand, casting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349947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551115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51115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7551115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7551115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SIP phone, wake-ups, call posting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586570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787738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87738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787738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9787738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analytics, RBAC, audit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" y="58064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as a whole, or module by module against the gaps in a given property — the guest record is shared from the first 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guest actually experiences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03020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3020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your central reservations, unchanged. We pick the guest up on confirmation.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3160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32888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95828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95828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scanned at home, registration card signed, card authorised, upsell offered.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15968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425696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88636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88636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the desk. Key issued, and the television already greets them by name.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08776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18504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81444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81444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483096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Dinner, the spa, the concierge — from the remote or their own phone.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01584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211312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874252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74252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57616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out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reviewed on screen, settled, gone. No queue.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994392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04120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767060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767060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50424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268712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travel to the next property in the estate, not just the next stay here.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4956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six is the one only a group can offer — and today almost none do.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3291840" cy="4663440"/>
          </a:xfrm>
          <a:prstGeom prst="roundRect">
            <a:avLst>
              <a:gd name="adj" fmla="val 5556"/>
            </a:avLst>
          </a:prstGeom>
          <a:solidFill>
            <a:srgbClr val="D4A94A">
              <a:alpha val="9000"/>
            </a:srgbClr>
          </a:solidFill>
          <a:ln w="12700">
            <a:solidFill>
              <a:srgbClr val="D4A94A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Arrival, digitalized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photocopied passports held at property level to a scanned, parsed, signed and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centrally retention-managed record — under one policy across the whole estate.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&amp; SCANNING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filing cabinet, retired — estate-wide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Passport, national ID or licence. The guest's own phone works for pre-arrival capture.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94076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95244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5244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95244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095244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zone and field OCR extract name, number, nationality and expiry. No typing.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48072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49240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card pre-filled from the scan, signed on a tablet or the guest's phone.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402068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03236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3236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603236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603236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storage under a separate key. Every read logged with actor, time and reason.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56064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57232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57232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857232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857232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retention policy, set by the group, enforced per property, with a provable deletion trail.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10911535" cy="1051560"/>
          </a:xfrm>
          <a:prstGeom prst="roundRect">
            <a:avLst>
              <a:gd name="adj" fmla="val 782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0120" y="44988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vault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0120" y="4800600"/>
            <a:ext cx="10271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Folios and invoices · signed contracts and banquet event orders · incident reports · supplier documents · the statutory guest register, exportable per jurisdiction for police and immigration filing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PROFILE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guest, remembered across the estate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486400" cy="3566160"/>
          </a:xfrm>
          <a:prstGeom prst="roundRect">
            <a:avLst>
              <a:gd name="adj" fmla="val 230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9385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property record holds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captured once — floor, bed, pillow, newspaper, language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Allergies and dietary restrictions, which reach the kitchen ticket as a hard warning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across every outlet, not just room revenue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history: what was asked for, how fast it was delivered, what went wrong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consent ledger recording what was agreed, when, and which version of the text was shown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5059375" cy="3566160"/>
          </a:xfrm>
          <a:prstGeom prst="roundRect">
            <a:avLst>
              <a:gd name="adj" fmla="val 2308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0" y="19385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3774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gets substance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64261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programme knows the stays. This adds what they ate, asked for and cared about.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0906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allergy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5584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at the kitchen, not remembered by a waiter who is off shift tomorrow.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80390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06908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preference set in one property is honoured at the next one in the estate.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1713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478231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failure is visible to the next property before the guest has to repeat it.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&amp; ANCILLARY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Rooms are yours. The rest has no system.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compete with central reservations for room inventory. We take the reservation as an input, and we run the demand your enterprise stack was never built to handle.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257800" cy="2971800"/>
          </a:xfrm>
          <a:prstGeom prst="roundRect">
            <a:avLst>
              <a:gd name="adj" fmla="val 2769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4871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— yours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944368"/>
            <a:ext cx="4617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 remains the system of record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consume the confirmed reservation, and return the stay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booking engine available where a property needs its own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 upsell layered on any reservation, whatever its channel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2240280"/>
            <a:ext cx="5287975" cy="2971800"/>
          </a:xfrm>
          <a:prstGeom prst="roundRect">
            <a:avLst>
              <a:gd name="adj" fmla="val 2769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11112" y="24871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ours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944368"/>
            <a:ext cx="4617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tables, by service and by section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treatments and therapist availability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classes, courts, equipment and pool cabanas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and meeting rooms, with banquet event orders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Tours, transfers and airport pickup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9496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5394960"/>
            <a:ext cx="102714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capacity engine serves every resource — a table, a therapist, a boardroom and a shuttle seat are the same problem, solved once and deployed estate-wide.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FOLIO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charge, one folio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Bar, restaurant, spa, minibar, laundry, the television — every outlet posts through one interface, and the folio reconciles to the property management system you already run.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949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4950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688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237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238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976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525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dining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1526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264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813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&amp; facilities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814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9552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101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102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840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389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Minibar &amp; laundry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6390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3127248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0080" y="312724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FOLIO   →   POSTED TO YOUR PMS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59536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59536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digital wallet, bank transfer and cash — reconciled in one ledger, per property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593592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813048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on file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813048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Tokenised for pre-authorisation, incidentals and no-show charges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547104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766560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billing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guest, item or company; city ledger for corporate and group accounts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500616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720072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scope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9720072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 goes device to acquirer. We hold a token, never a card number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&amp; BEVERAGE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order. One kitchen.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table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on a tablet, or the guest scans the code and orders without waiting.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93592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13048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130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813048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bar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that follow the guest and close to the room, not to a card at the till.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47104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0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room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dining on the television or the phone, posted to the folio automatically.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500616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720072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2007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720072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on site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Poolside, lobby, terrace. The code carries the location; the order knows where to go.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10911535" cy="1481328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" y="4041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all four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display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routed by prep station, courses fired in order, bar split from kitchen.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menu control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9943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 item once and it clears the television, the codes and the tablets at once.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21131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Margin, not just revenue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21131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costing and stock depletion roll outlet profitability up to the group.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&amp; SERVICE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request in one queue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guest asks by television, by phone, by chat or at the desk. Staff see one list. Head office sees whether the brand standard was met.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120640" cy="3200400"/>
          </a:xfrm>
          <a:prstGeom prst="roundRect">
            <a:avLst>
              <a:gd name="adj" fmla="val 257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3774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request moves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87552" y="2798064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87552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281635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— from any channel, tagged to the stay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87552" y="3282696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7552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30098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— type, priority, target time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552" y="3767328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7552" y="3767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26464" y="378561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— to a person, not to a department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87552" y="4251960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4251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26464" y="427024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Clocked — the SLA runs, and escalates if it breaches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87552" y="4736592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" y="4736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47548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— logged against the guest, the room and the property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26480" y="214884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55664" y="2313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26243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status, turn-down, linen, inspection and out-of-order rooms on one board.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324612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55664" y="3410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55664" y="3721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with asset history, so a recurring fault becomes visible as a pattern.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434340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455664" y="4507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standard reporting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455664" y="48188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attainment per property, comparable across the estate, without a manual audit.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3291840" cy="4663440"/>
          </a:xfrm>
          <a:prstGeom prst="roundRect">
            <a:avLst>
              <a:gd name="adj" fmla="val 5556"/>
            </a:avLst>
          </a:prstGeom>
          <a:solidFill>
            <a:srgbClr val="3FB6A8">
              <a:alpha val="9000"/>
            </a:srgbClr>
          </a:solidFill>
          <a:ln w="12700">
            <a:solidFill>
              <a:srgbClr val="3FB6A8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devices in the room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things a guest touches once the door closes: the screen on the wall and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handset beside the bed. Both bought locally in most estates. Both ours to fix.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HUB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television into the hotel itself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492240" cy="3657600"/>
          </a:xfrm>
          <a:prstGeom prst="roundRect">
            <a:avLst>
              <a:gd name="adj" fmla="val 2250"/>
            </a:avLst>
          </a:prstGeom>
          <a:solidFill>
            <a:srgbClr val="0A0613"/>
          </a:solidFill>
          <a:ln w="254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09928"/>
            <a:ext cx="1371600" cy="3621024"/>
          </a:xfrm>
          <a:prstGeom prst="roundRect">
            <a:avLst>
              <a:gd name="adj" fmla="val 5333"/>
            </a:avLst>
          </a:prstGeom>
          <a:solidFill>
            <a:srgbClr val="120C22"/>
          </a:solidFill>
          <a:ln w="12700">
            <a:solidFill>
              <a:srgbClr val="241A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47088"/>
            <a:ext cx="182880" cy="182880"/>
          </a:xfrm>
          <a:prstGeom prst="ellipse">
            <a:avLst/>
          </a:prstGeom>
          <a:solidFill>
            <a:srgbClr val="3A2560"/>
          </a:solidFill>
          <a:ln w="12700">
            <a:solidFill>
              <a:srgbClr val="553A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4128" y="1810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</a:t>
            </a:r>
            <a:pPr indent="0" marL="0">
              <a:buNone/>
            </a:pPr>
            <a:r>
              <a:rPr lang="en-US" sz="1100" b="1" dirty="0">
                <a:solidFill>
                  <a:srgbClr val="F0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1152144" cy="237744"/>
          </a:xfrm>
          <a:prstGeom prst="roundRect">
            <a:avLst>
              <a:gd name="adj" fmla="val 19231"/>
            </a:avLst>
          </a:prstGeom>
          <a:solidFill>
            <a:srgbClr val="231640"/>
          </a:solidFill>
          <a:ln w="12700">
            <a:solidFill>
              <a:srgbClr val="2316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2249424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523744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TV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2798064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3072384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 Shows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3346704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86384" y="3648456"/>
            <a:ext cx="1115568" cy="0"/>
          </a:xfrm>
          <a:prstGeom prst="line">
            <a:avLst/>
          </a:prstGeom>
          <a:noFill/>
          <a:ln w="12700">
            <a:solidFill>
              <a:srgbClr val="241A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3712464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spc="120" kern="0" dirty="0">
                <a:solidFill>
                  <a:srgbClr val="6B6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STAY</a:t>
            </a:r>
            <a:endParaRPr lang="en-US" sz="55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93192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" y="42062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" y="448056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Bill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evening, Ms Reyes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148840" y="20848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nights remaining  ·  Gold member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897880" y="1810512"/>
            <a:ext cx="1143000" cy="237744"/>
          </a:xfrm>
          <a:prstGeom prst="roundRect">
            <a:avLst>
              <a:gd name="adj" fmla="val 50000"/>
            </a:avLst>
          </a:prstGeom>
          <a:solidFill>
            <a:srgbClr val="1A1130"/>
          </a:solidFill>
          <a:ln w="12700">
            <a:solidFill>
              <a:srgbClr val="2E21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97880" y="181051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FC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812 · Gold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2148840" y="2395728"/>
            <a:ext cx="4892040" cy="1024128"/>
          </a:xfrm>
          <a:prstGeom prst="roundRect">
            <a:avLst>
              <a:gd name="adj" fmla="val 6250"/>
            </a:avLst>
          </a:prstGeom>
          <a:solidFill>
            <a:srgbClr val="2A1A4A"/>
          </a:solidFill>
          <a:ln w="12700">
            <a:solidFill>
              <a:srgbClr val="3A246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58568" y="2487168"/>
            <a:ext cx="548640" cy="841248"/>
          </a:xfrm>
          <a:prstGeom prst="roundRect">
            <a:avLst>
              <a:gd name="adj" fmla="val 6667"/>
            </a:avLst>
          </a:prstGeom>
          <a:solidFill>
            <a:srgbClr val="8E5A6B"/>
          </a:solidFill>
          <a:ln w="12700">
            <a:solidFill>
              <a:srgbClr val="8E5A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07792" y="250545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spc="100" kern="0" dirty="0">
                <a:solidFill>
                  <a:srgbClr val="C7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</a:t>
            </a:r>
            <a:endParaRPr lang="en-US" sz="550" dirty="0"/>
          </a:p>
        </p:txBody>
      </p:sp>
      <p:sp>
        <p:nvSpPr>
          <p:cNvPr id="26" name="Text 24"/>
          <p:cNvSpPr txBox="1"/>
          <p:nvPr/>
        </p:nvSpPr>
        <p:spPr>
          <a:xfrm>
            <a:off x="2907792" y="26426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Romance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907792" y="288036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 ·  Movies  ·  ★ R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907792" y="3072384"/>
            <a:ext cx="896112" cy="201168"/>
          </a:xfrm>
          <a:prstGeom prst="roundRect">
            <a:avLst>
              <a:gd name="adj" fmla="val 18182"/>
            </a:avLst>
          </a:prstGeom>
          <a:solidFill>
            <a:srgbClr val="B94AE8"/>
          </a:solidFill>
          <a:ln w="12700">
            <a:solidFill>
              <a:srgbClr val="B94A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307238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Watch now</a:t>
            </a:r>
            <a:endParaRPr lang="en-US" sz="650" dirty="0"/>
          </a:p>
        </p:txBody>
      </p:sp>
      <p:sp>
        <p:nvSpPr>
          <p:cNvPr id="30" name="Text 28"/>
          <p:cNvSpPr txBox="1"/>
          <p:nvPr/>
        </p:nvSpPr>
        <p:spPr>
          <a:xfrm>
            <a:off x="2148840" y="356616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C7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ADDED MOVIES</a:t>
            </a:r>
            <a:endParaRPr lang="en-US" sz="6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3566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all →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2148840" y="3785616"/>
            <a:ext cx="859536" cy="896112"/>
          </a:xfrm>
          <a:prstGeom prst="roundRect">
            <a:avLst>
              <a:gd name="adj" fmla="val 5319"/>
            </a:avLst>
          </a:prstGeom>
          <a:solidFill>
            <a:srgbClr val="8A3B22"/>
          </a:solidFill>
          <a:ln w="19050">
            <a:solidFill>
              <a:srgbClr val="C77B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41448" y="409651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441448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0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148840" y="4727448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6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Hunt</a:t>
            </a:r>
            <a:endParaRPr lang="en-US" sz="500" dirty="0"/>
          </a:p>
        </p:txBody>
      </p:sp>
      <p:sp>
        <p:nvSpPr>
          <p:cNvPr id="36" name="Text 34"/>
          <p:cNvSpPr txBox="1"/>
          <p:nvPr/>
        </p:nvSpPr>
        <p:spPr>
          <a:xfrm>
            <a:off x="2148840" y="4873752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18104" y="3785616"/>
            <a:ext cx="859536" cy="896112"/>
          </a:xfrm>
          <a:prstGeom prst="roundRect">
            <a:avLst>
              <a:gd name="adj" fmla="val 5319"/>
            </a:avLst>
          </a:prstGeom>
          <a:solidFill>
            <a:srgbClr val="3A4A5C"/>
          </a:solidFill>
          <a:ln w="12700">
            <a:solidFill>
              <a:srgbClr val="2A1C4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118104" y="4727448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6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Mile I</a:t>
            </a:r>
            <a:endParaRPr lang="en-US" sz="500" dirty="0"/>
          </a:p>
        </p:txBody>
      </p:sp>
      <p:sp>
        <p:nvSpPr>
          <p:cNvPr id="39" name="Text 37"/>
          <p:cNvSpPr txBox="1"/>
          <p:nvPr/>
        </p:nvSpPr>
        <p:spPr>
          <a:xfrm>
            <a:off x="3118104" y="4873752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087368" y="3785616"/>
            <a:ext cx="859536" cy="896112"/>
          </a:xfrm>
          <a:prstGeom prst="roundRect">
            <a:avLst>
              <a:gd name="adj" fmla="val 5319"/>
            </a:avLst>
          </a:prstGeom>
          <a:solidFill>
            <a:srgbClr val="4A4438"/>
          </a:solidFill>
          <a:ln w="12700">
            <a:solidFill>
              <a:srgbClr val="2A1C4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087368" y="4727448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6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Mile II</a:t>
            </a:r>
            <a:endParaRPr lang="en-US" sz="500" dirty="0"/>
          </a:p>
        </p:txBody>
      </p:sp>
      <p:sp>
        <p:nvSpPr>
          <p:cNvPr id="42" name="Text 40"/>
          <p:cNvSpPr txBox="1"/>
          <p:nvPr/>
        </p:nvSpPr>
        <p:spPr>
          <a:xfrm>
            <a:off x="4087368" y="4873752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5056632" y="3785616"/>
            <a:ext cx="859536" cy="896112"/>
          </a:xfrm>
          <a:prstGeom prst="roundRect">
            <a:avLst>
              <a:gd name="adj" fmla="val 5319"/>
            </a:avLst>
          </a:prstGeom>
          <a:solidFill>
            <a:srgbClr val="6B2230"/>
          </a:solidFill>
          <a:ln w="12700">
            <a:solidFill>
              <a:srgbClr val="2A1C4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056632" y="4727448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6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</a:t>
            </a:r>
            <a:endParaRPr lang="en-US" sz="500" dirty="0"/>
          </a:p>
        </p:txBody>
      </p:sp>
      <p:sp>
        <p:nvSpPr>
          <p:cNvPr id="45" name="Text 43"/>
          <p:cNvSpPr txBox="1"/>
          <p:nvPr/>
        </p:nvSpPr>
        <p:spPr>
          <a:xfrm>
            <a:off x="5056632" y="4873752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6025896" y="3785616"/>
            <a:ext cx="859536" cy="896112"/>
          </a:xfrm>
          <a:prstGeom prst="roundRect">
            <a:avLst>
              <a:gd name="adj" fmla="val 5319"/>
            </a:avLst>
          </a:prstGeom>
          <a:solidFill>
            <a:srgbClr val="8A6A2A"/>
          </a:solidFill>
          <a:ln w="12700">
            <a:solidFill>
              <a:srgbClr val="2A1C47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025896" y="4727448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6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Mexicali</a:t>
            </a:r>
            <a:endParaRPr lang="en-US" sz="500" dirty="0"/>
          </a:p>
        </p:txBody>
      </p:sp>
      <p:sp>
        <p:nvSpPr>
          <p:cNvPr id="48" name="Text 46"/>
          <p:cNvSpPr txBox="1"/>
          <p:nvPr/>
        </p:nvSpPr>
        <p:spPr>
          <a:xfrm>
            <a:off x="6025896" y="4873752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7498080" y="173736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Orpheus product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20116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application your subscribers use at home, running in a hospitality mode — not a hotel imitation of it.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7498080" y="267004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on arrival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7498080" y="294436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nights remaining and loyalty tier, drawn from the same record the front desk reads.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7498080" y="360273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not just cost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7498080" y="387705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reaches room service, the spa and the bar. The screen begins to earn.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7498080" y="453542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stay is the subscriber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809744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is issued to the room for the dates of the stay. Profile, history and pairings are wiped at checkout.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AT ESTATE SCALE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box behind the television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hotel TV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8388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Hospitality Suite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73736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per room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1737360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set-top box, a power supply, an HDMI lead, a mount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737360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Nothing. The application runs on the television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450592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01A2C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45059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per property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45059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room cabled and provisioned individually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45059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firmware profile, cloned across the estate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163824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16382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points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3163824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Box, power supply and cable — all guest-accessible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3163824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television, already under warranty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77056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01A2C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877056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input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34840" y="3877056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remote, and a lesson in which one to use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877056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that came with the television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590288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59028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cycle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459028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age and are replaced on their own cycle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590288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television capex plan you already have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Android TV or Google TV hospitality models, which permit managed install and lockdown. Tizen and webOS estates run the same app on a small Android device until refresh.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ANDROID, END TO 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Android app. Every screen.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device that runs our application runs Android — the television in the room, the tablets on the floor, the handhelds in the corridor, the kiosk in the lobby. One application, one release train, one way to manage a device.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In-room television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TV / Google TV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TCL, Sony, Hisense, Philips and others. The guest app runs on the set — nothing behind it.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93592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831336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tablets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831336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31336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and bar point of sale, kitchen display, housekeeping and inspection boards.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47104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84848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Handhelds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784848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784848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and ID capture at the desk or kerbside, order running, maintenance work orders.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00616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738360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Self-service kiosk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738360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738360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Lobby check-in, document capture and signature, key issue.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343400"/>
            <a:ext cx="10911535" cy="1417320"/>
          </a:xfrm>
          <a:prstGeom prst="roundRect">
            <a:avLst>
              <a:gd name="adj" fmla="val 580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operating system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8280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and one release train, not four · one device-management enrolment for the whole estate · commodity hardware the group can source in any market · a single patch and security posture to put in front of your vendor 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quote, we survey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48280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 models per property, and whether they are Android hospitality SKUs · per-room network to each set · VLAN separation of guest and device traffic · multicast, where live television is carried over IP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in-room handset is the exception — a SIP endpoint on your own PBX. Tizen and webOS sets are not native Android targets, and run the app on a small device until refresh.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ENTERTAINMENT LAYER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player, not a content deal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Nations owns no content and holds no library. It is a multimedia player over a source registry: sources are configured per property, and the player verifies them continuously so a guest never meets a dead channel.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2670048" cy="2240280"/>
          </a:xfrm>
          <a:prstGeom prst="roundRect">
            <a:avLst>
              <a:gd name="adj" fmla="val 3673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96896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08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the player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639312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ships with content in it. No catalogue is bundled and no rights are held.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93592" y="2395728"/>
            <a:ext cx="2670048" cy="2240280"/>
          </a:xfrm>
          <a:prstGeom prst="roundRect">
            <a:avLst>
              <a:gd name="adj" fmla="val 3673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31336" y="2596896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31336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31336" y="3108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are yours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31336" y="3639312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existing linear feeds, your licensed on-demand provider, free ad-supported channels, and your own hotel channels.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47104" y="2395728"/>
            <a:ext cx="2670048" cy="2240280"/>
          </a:xfrm>
          <a:prstGeom prst="roundRect">
            <a:avLst>
              <a:gd name="adj" fmla="val 3673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84848" y="2596896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84848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108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search keeps it alive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639312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source is probed continuously for reachability. A dead endpoint is dropped before a guest can select it.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00616" y="2395728"/>
            <a:ext cx="2670048" cy="2240280"/>
          </a:xfrm>
          <a:prstGeom prst="roundRect">
            <a:avLst>
              <a:gd name="adj" fmla="val 3673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38360" y="2596896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3836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3108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sources, not systems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738360" y="3639312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are dynamic and can be updated at any time without touching a single television in the estate.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828032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1A2438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60120" y="497433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rights sit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52486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or the group supplies its sources and holds the right to show them. We supply the player, the interface and the verification. Put that boundary in the contract — a hotel is publicly performing whatever it puts on a guest television, and licensing that is the property's obligation.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Community-maintained link lists are not a licensed source for commercial redistribution. Hospitality estates are provisioned against the property's own licensed feeds.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phone beside the bed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SIP handset registers to the PBX you already run. We do not replace your telephony — we give the handset the guest record, and we put the calls on the folio.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PBX, unchanged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handset registers to your existing SIP platform. No forklift, no new call path, no carrier contract to renegotiate.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93592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13048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13048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knows who is in the room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13048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carries the guest's name and language. Dial 0 and the desk sees the profile before the call is answered.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47104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66560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Wake-up calls that work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from the handset, the television or the desk — one schedule, escalating to the desk if the guest does not answer.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00616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20072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20072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on the folio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720072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records priced and posted to the same folio as dinner and the minibar, through the same interface as every other outlet.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57200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60120" y="47365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extensions, not radios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PBX rings the Android handhelds housekeeping and maintenance already carry. One numbering plan, no separate DECT fleet to buy or maintain, and a service ticket that can call the guest back.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7365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calling, verified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emergency dialling with no prefix, simultaneous notification to the front desk, and a dispatchable location for every room — checked at survey against the rules of each market you operate in.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Analogue handsets in older rooms bridge to the same PBX through an adapter — a room does not have to be rewired to join the platform.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WHAT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and operator want different things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branded estate the party funding the capital expenditure and the party setting the standard are rarely the same. The platform has to answer to both.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0584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owner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it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5468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revenue per occupied room, from a screen that previously earned nothing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vendor contracts consolidated into one line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Set-top hardware removed from the refresh plan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 hours returned at the desk, the outlets and night audit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that improves on the schedule the televisions are replaced on anyway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83096" y="221284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48856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operator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standard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48856" y="315468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guest experience across every property, not one per procurement decision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SLAs measured continuously rather than by mystery shopper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standard compliance evidenced from operational data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preferences portable between properties in the estate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retention under one policy, enforced everywhere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managed and franchised properties the split differs — we scope who signs, who pays and who is served, per agreement type.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COMMERCIAL 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platform pays for itself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effects, each measurable on a property P&amp;L and each multiplying by the number of properties. The chart is a worked model — we rebuild it on the group's real figures before proposal.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267712"/>
          <a:ext cx="6858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63840" y="2267712"/>
            <a:ext cx="3687775" cy="3108960"/>
          </a:xfrm>
          <a:prstGeom prst="roundRect">
            <a:avLst>
              <a:gd name="adj" fmla="val 2647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183880" y="2487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834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are relative, not absolute. Ancillary revenue is set to 1.0 and the rest scaled against it.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bars are revenue. The rest are cost — contracts not renewed, hours not worked, hardware not bought. They are the least visible effects and usually the most certain.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revenue is deliberately absent: guests use their own mobiles, and telephony earns its place here on cost and compliance, not on billed minutes.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model only. No client figures have been used. Rebuilt on the group's own outlet revenue, vendor spend, payroll and capex plan at proposal stage.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READINESS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your vendor review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documents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scans encrypted under a separately managed key, released only with a reason code, purged on a group-set retention clock.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71416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27448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727448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the platform. Capture device to acquirer; we hold a token. PCI scope stays on the light-touch assessment.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02752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558784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558784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and least-privilege, federated to your identity provider. Group sees the estate, property sees itself.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6112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log of every state change. Every privileged read carries actor, time and reason, exportable for review.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71416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27448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per property and per region — a requirement for any operator across multiple jurisdictions.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02752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558784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558784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II and an independent penetration test are committed deliverables, completed before pilot sign-off.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is stated as a commitment with a date, not as a credential already held. Any claim to the contrary should be corrected before this deck is presented.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one property. Then the estate.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committed estate-wide before it is proven in a property the group chooses.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21408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221992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21992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214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survey &amp; foundation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21408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 and network survey. Guest record, identity capture and the document vault live in one property.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287000" y="212140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1–6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98064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2898648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898648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798064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money &amp; the room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98064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folio, one outlet, and the guest television application. The full guest journey, one site.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0" y="2798064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3575304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357530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4747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measure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474720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revenue, SLA attainment and labour effect measured against the property's own baseline.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287000" y="34747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17–20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151376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96112" y="4251960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4251960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15137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151376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 five properties, deliberately mixed — different TV estates, different PMS versions, different markets.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87000" y="4151376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6–10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828032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928616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6112" y="4928616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482803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0" y="4828032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deployment runbook, regional teams, phased against the television refresh plan.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287000" y="4828032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11+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6235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exists so the estate decision is made on measured results, not on this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138160" y="-822960"/>
            <a:ext cx="2926080" cy="5486400"/>
          </a:xfrm>
          <a:prstGeom prst="roundRect">
            <a:avLst>
              <a:gd name="adj" fmla="val 6250"/>
            </a:avLst>
          </a:prstGeom>
          <a:solidFill>
            <a:srgbClr val="D4A94A">
              <a:alpha val="9000"/>
            </a:srgbClr>
          </a:solidFill>
          <a:ln w="12700">
            <a:solidFill>
              <a:srgbClr val="D4A94A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0058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pilot property,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chosen by you,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against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own baseline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36393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vendor audit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639312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property runs today, what it costs the group, and what the platform consolidates.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4407408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389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scoping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438912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PMS, loyalty platform and identity provider — interfaces agreed and documented, not assumed.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5157216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51389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513892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model rebuilt on your figures, with a measurement gate before any estate commitment.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6035040"/>
            <a:ext cx="10881360" cy="0"/>
          </a:xfrm>
          <a:prstGeom prst="line">
            <a:avLst/>
          </a:prstGeom>
          <a:noFill/>
          <a:ln w="12700">
            <a:solidFill>
              <a:srgbClr val="2735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Hospitality Suite  ·  one guest record, every property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Orpheus Hospitality Suite</dc:title>
  <dc:subject>PptxGenJS Presentation</dc:subject>
  <dc:creator>Orpheus Hospitality Suite</dc:creator>
  <cp:lastModifiedBy>Orpheus Hospitality Suite</cp:lastModifiedBy>
  <cp:revision>1</cp:revision>
  <dcterms:created xsi:type="dcterms:W3CDTF">2026-09-03T02:20:16Z</dcterms:created>
  <dcterms:modified xsi:type="dcterms:W3CDTF">2026-09-03T02:20:16Z</dcterms:modified>
</cp:coreProperties>
</file>