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charts/chart1.xml" ContentType="application/vnd.openxmlformats-officedocument.drawingml.chart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effect per property</c:v>
                </c:pt>
              </c:strCache>
            </c:strRef>
          </c:tx>
          <c:spPr>
            <a:solidFill>
              <a:srgbClr val="A87C1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Ancillary revenue
(dining, spa and tours from the TV)</c:v>
                  </c:pt>
                  <c:pt idx="1">
                    <c:v>Vendor contracts consolidated
(TV, POS, concierge tooling)</c:v>
                  </c:pt>
                  <c:pt idx="2">
                    <c:v>Labour hours returned
(desk, outlets, night audit)</c:v>
                  </c:pt>
                  <c:pt idx="3">
                    <c:v>Set-top hardware avoided
(at TV refresh)</c:v>
                  </c:pt>
                  <c:pt idx="4">
                    <c:v>Direct booking
(where the property runs its own)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</c:v>
                </c:pt>
                <c:pt idx="1">
                  <c:v>0.54</c:v>
                </c:pt>
                <c:pt idx="2">
                  <c:v>0.47</c:v>
                </c:pt>
                <c:pt idx="3">
                  <c:v>0.33</c:v>
                </c:pt>
                <c:pt idx="4">
                  <c:v>0.29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5A68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A68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Audience is a group owner or operator, not an independent. Establish in the first minute that we are not proposing to replace the enterprise core — we are proposing to own the layer between that core and the guest, which today is a patchwork of property-level vendors.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framing that earns the meeting: we are not competing with the enterprise stack, we are fixing the layer beneath it. Ask how many TV vendors and POS systems the estate carries — the number is usually higher than head office expects.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Deliberately not fabricated percentages. At proposal stage this slide becomes the group's real vendor count and spend, which is far more persuasive than a benchmark and is a number head office often cannot produce on request.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an operator the word that matters is 'converges'. Every year of local procurement pushes the estate further apart; this is the first layer that pulls it back together without touching the enterprise core.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slide the group's IT function will test you on. The honest position — scoped per vendor, agreed before pilot, no generic connector — is what separates a credible integration story from a slideware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a mixed estate the module-by-module point matters: a managed property with a strong incumbent POS can take everything except ordering, and still share the guest record.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Land step six hard. Preference portability across the estate is a genuine group advantage that independents structurally cannot match, and most groups fail to deliver it below the loyalty tier.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break. For a group, the interesting word is 'centrally' — document risk currently sits with each property and is invisible to head office.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Per-jurisdiction register export is the detail that matters to a cross-border operator — the obligation differs by market and is currently met manually, differently, in each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'Loyalty gets substance' is the line for the operator: the enterprise programme knows transactions, not preferences. This feeds it the texture it has never had.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Conceding room inventory to the CRS is what makes the rest of the pitch credible. A vendor who claims to replace central reservations is shown the door; a vendor who claims the ancillary layer is filling a real gap.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Tokenisation keeps the property on the light-touch PCI self-assessment. For a group with a hundred properties that is a hundred audits made cheaper, which is a procurement argument as much as a technical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Outlet margin rolling up to the group is the F&amp;B point head office cares about — most estates can see outlet revenue and cannot see outlet profitability without a manual exercise.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Brand standard reporting is the operator's hook. Today SLA attainment is measured by mystery shopper and self-report; this measures it continuously as a by-product of doing the 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 into the entertainment story. The framing for a group is consistency, not novelty.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Volunteer the checkout reset before IT asks — every group has been burned by a guest finding the previous occupant's signed-in streaming account.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Raise the hospitality-SKU caveat yourself. For an owner it lands as a capex-timing question, not an objection: the platform aligns to the TV refresh cycle already in the plan.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a group the survey is a per-property exercise and should be priced as one. Estates are rarely as uniform as the standards manual claims.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PLACEHOLDER — replace these four cards with the real Orpheus Nations catalogue, channel line-up and licensed territories before this deck goes to a client. Content specifics were not available when the deck was drafted.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early in the meeting which side of this slide the room sits on. A deck that pitches operator benefits to an owner, or capex savings to a brand team, loses both.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caveat out loud. For an enterprise buyer, offering to rebuild the model on their numbers during the systems audit is the ask that converts this meeting into a second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exact here. Enterprise procurement will ask for the SOC 2 report; promising it on a date is credible, implying it exists is a deal-ending discovery. Update this slide the moment the audit completes.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Phase 3 is the credibility move. Volunteering a measurement gate before estate commitment is what an enterprise buyer expects and what most vendors avoid offering.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audit and the integration scoping, not on the product. Both are low-commitment yeses, and both produce the facts every later conversation depends 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1080000">
            <a:off x="7863840" y="-1005840"/>
            <a:ext cx="2926080" cy="5669280"/>
          </a:xfrm>
          <a:prstGeom prst="roundRect">
            <a:avLst>
              <a:gd name="adj" fmla="val 6250"/>
            </a:avLst>
          </a:prstGeom>
          <a:solidFill>
            <a:srgbClr val="D4A94A">
              <a:alpha val="10000"/>
            </a:srgbClr>
          </a:solidFill>
          <a:ln w="12700">
            <a:solidFill>
              <a:srgbClr val="D4A94A">
                <a:alpha val="2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rot="1080000">
            <a:off x="9509760" y="365760"/>
            <a:ext cx="2743200" cy="5852160"/>
          </a:xfrm>
          <a:prstGeom prst="roundRect">
            <a:avLst>
              <a:gd name="adj" fmla="val 6667"/>
            </a:avLst>
          </a:prstGeom>
          <a:solidFill>
            <a:srgbClr val="3FB6A8">
              <a:alpha val="8000"/>
            </a:srgbClr>
          </a:solidFill>
          <a:ln w="12700">
            <a:solidFill>
              <a:srgbClr val="3FB6A8">
                <a:alpha val="18000"/>
              </a:srgb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HOTEL OWNERS AND OPERATORS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965960"/>
            <a:ext cx="71323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400"/>
              </a:lnSpc>
              <a:buNone/>
            </a:pPr>
            <a:r>
              <a:rPr lang="en-US" sz="5000" b="1" dirty="0">
                <a:solidFill>
                  <a:srgbClr val="F4F1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Orpheus</a:t>
            </a:r>
            <a:endParaRPr lang="en-US" sz="5000" dirty="0"/>
          </a:p>
          <a:p>
            <a:pPr indent="0" marL="0">
              <a:lnSpc>
                <a:spcPts val="5400"/>
              </a:lnSpc>
              <a:buNone/>
            </a:pPr>
            <a:r>
              <a:rPr lang="en-US" sz="5000" b="1" dirty="0">
                <a:solidFill>
                  <a:srgbClr val="F4F1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Hospitality Suite</a:t>
            </a:r>
            <a:endParaRPr lang="en-US" sz="5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822192"/>
            <a:ext cx="6903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9AA9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property-level guest experience layer — in-room entertainment, dining, concierge, facility booking, payments and digital documents — running on one guest record and plugged into the enterprise systems you already own.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5321808"/>
            <a:ext cx="3017520" cy="420624"/>
          </a:xfrm>
          <a:prstGeom prst="roundRect">
            <a:avLst>
              <a:gd name="adj" fmla="val 50000"/>
            </a:avLst>
          </a:prstGeom>
          <a:solidFill>
            <a:srgbClr val="16223A"/>
          </a:solidFill>
          <a:ln w="12700">
            <a:solidFill>
              <a:srgbClr val="27354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5321808"/>
            <a:ext cx="3017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on the TV. No set-top box.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840480" y="5321808"/>
            <a:ext cx="3017520" cy="420624"/>
          </a:xfrm>
          <a:prstGeom prst="roundRect">
            <a:avLst>
              <a:gd name="adj" fmla="val 50000"/>
            </a:avLst>
          </a:prstGeom>
          <a:solidFill>
            <a:srgbClr val="16223A"/>
          </a:solidFill>
          <a:ln w="12700">
            <a:solidFill>
              <a:srgbClr val="27354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840480" y="5321808"/>
            <a:ext cx="3017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Powered by Orpheus Nations.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87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0B12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core is solved. The last mile is not.</a:t>
            </a:r>
            <a:endParaRPr lang="en-US" sz="33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572768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58"/>
              </a:lnSpc>
              <a:buNone/>
            </a:pPr>
            <a:r>
              <a:rPr lang="en-US" sz="13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reservations, the property management system and the loyalty programme are enterprise-grade and estate-wide. Below them, the systems the guest actually touches were bought property by property, from whoever was local.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5257800" cy="3246120"/>
          </a:xfrm>
          <a:prstGeom prst="roundRect">
            <a:avLst>
              <a:gd name="adj" fmla="val 2535"/>
            </a:avLst>
          </a:prstGeom>
          <a:solidFill>
            <a:srgbClr val="0B1220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987552" y="257860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8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ESTATE-WIDE, ENTERPRISE, YOURS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987552" y="303580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reservations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987552" y="327355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A9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inventory, one rate strategy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987552" y="365760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Property management system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987552" y="3895344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A9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Opera-class, standardised across the estate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987552" y="427939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loyalty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987552" y="4517136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A9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programme, one member identity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987552" y="4901184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Corporate finance and reporting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987552" y="513892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A9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Consolidated to the group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263640" y="2331720"/>
            <a:ext cx="5287975" cy="3246120"/>
          </a:xfrm>
          <a:prstGeom prst="roundRect">
            <a:avLst>
              <a:gd name="adj" fmla="val 2535"/>
            </a:avLst>
          </a:prstGeom>
          <a:solidFill>
            <a:srgbClr val="F5F7FA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6611112" y="2578608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A87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PROPERTY BY PROPERTY, LOCAL, INCONSISTENT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6611112" y="3035808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In-room television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6611112" y="3273552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Sold with the hardware, different vendor per site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6611112" y="3657600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Restaurant and bar point of sale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6611112" y="3895344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Often two systems, rarely reporting to the group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6611112" y="4279392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Concierge and service requests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6611112" y="4517136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Radio, paper log, or a spreadsheet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6611112" y="4901184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Guest identity documents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6611112" y="5138928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Photocopied, filed, retained indefinitely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COSTS AT ESTATE SCALE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F4F1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Property fragmentation is paid at the group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2670048" cy="3246120"/>
          </a:xfrm>
          <a:prstGeom prst="roundRect">
            <a:avLst>
              <a:gd name="adj" fmla="val 3082"/>
            </a:avLst>
          </a:prstGeom>
          <a:solidFill>
            <a:srgbClr val="16223A"/>
          </a:solidFill>
          <a:ln w="12700">
            <a:solidFill>
              <a:srgbClr val="27354F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96112" y="2121408"/>
            <a:ext cx="21579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4A9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 site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2633472"/>
            <a:ext cx="2157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 contracts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3200400"/>
            <a:ext cx="2157984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50"/>
              </a:lnSpc>
              <a:buNone/>
            </a:pPr>
            <a:r>
              <a:rPr lang="en-US" sz="1150" dirty="0">
                <a:solidFill>
                  <a:srgbClr val="9AA9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TV, POS, concierge and document handling procured locally — renewed locally, audited locally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593592" y="1828800"/>
            <a:ext cx="2670048" cy="3246120"/>
          </a:xfrm>
          <a:prstGeom prst="roundRect">
            <a:avLst>
              <a:gd name="adj" fmla="val 3082"/>
            </a:avLst>
          </a:prstGeom>
          <a:solidFill>
            <a:srgbClr val="16223A"/>
          </a:solidFill>
          <a:ln w="12700">
            <a:solidFill>
              <a:srgbClr val="27354F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3849624" y="2121408"/>
            <a:ext cx="21579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4A9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Uneven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3849624" y="2633472"/>
            <a:ext cx="2157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guest experience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3849624" y="3200400"/>
            <a:ext cx="2157984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50"/>
              </a:lnSpc>
              <a:buNone/>
            </a:pPr>
            <a:r>
              <a:rPr lang="en-US" sz="1150" dirty="0">
                <a:solidFill>
                  <a:srgbClr val="9AA9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brand promise delivered differently in every property the guest visits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547104" y="1828800"/>
            <a:ext cx="2670048" cy="3246120"/>
          </a:xfrm>
          <a:prstGeom prst="roundRect">
            <a:avLst>
              <a:gd name="adj" fmla="val 3082"/>
            </a:avLst>
          </a:prstGeom>
          <a:solidFill>
            <a:srgbClr val="16223A"/>
          </a:solidFill>
          <a:ln w="12700">
            <a:solidFill>
              <a:srgbClr val="27354F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35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803136" y="2121408"/>
            <a:ext cx="21579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4A9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Partial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6803136" y="2633472"/>
            <a:ext cx="2157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ancillary data</a:t>
            </a:r>
            <a:endParaRPr lang="en-US" sz="1450" dirty="0"/>
          </a:p>
        </p:txBody>
      </p:sp>
      <p:sp>
        <p:nvSpPr>
          <p:cNvPr id="15" name="Text 13"/>
          <p:cNvSpPr txBox="1"/>
          <p:nvPr/>
        </p:nvSpPr>
        <p:spPr>
          <a:xfrm>
            <a:off x="6803136" y="3200400"/>
            <a:ext cx="2157984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50"/>
              </a:lnSpc>
              <a:buNone/>
            </a:pPr>
            <a:r>
              <a:rPr lang="en-US" sz="1150" dirty="0">
                <a:solidFill>
                  <a:srgbClr val="9AA9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outlet, spa and in-room revenue that never rolls up cleanly to the group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9500616" y="1828800"/>
            <a:ext cx="2670048" cy="3246120"/>
          </a:xfrm>
          <a:prstGeom prst="roundRect">
            <a:avLst>
              <a:gd name="adj" fmla="val 3082"/>
            </a:avLst>
          </a:prstGeom>
          <a:solidFill>
            <a:srgbClr val="16223A"/>
          </a:solidFill>
          <a:ln w="12700">
            <a:solidFill>
              <a:srgbClr val="27354F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35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9756648" y="2121408"/>
            <a:ext cx="21579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4A9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Siloed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9756648" y="2633472"/>
            <a:ext cx="2157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risk</a:t>
            </a:r>
            <a:endParaRPr lang="en-US" sz="1450" dirty="0"/>
          </a:p>
        </p:txBody>
      </p:sp>
      <p:sp>
        <p:nvSpPr>
          <p:cNvPr id="19" name="Text 17"/>
          <p:cNvSpPr txBox="1"/>
          <p:nvPr/>
        </p:nvSpPr>
        <p:spPr>
          <a:xfrm>
            <a:off x="9756648" y="3200400"/>
            <a:ext cx="2157984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50"/>
              </a:lnSpc>
              <a:buNone/>
            </a:pPr>
            <a:r>
              <a:rPr lang="en-US" sz="1150" dirty="0">
                <a:solidFill>
                  <a:srgbClr val="9AA9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documents held at property level, with no estate-wide retention control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640080" y="6291072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A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Characteristic of multi-property estates with locally procured guest-facing systems. Replaced with the group's own vendor inventory at proposal stage.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87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IDEA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0B12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guest layer. Every property.</a:t>
            </a:r>
            <a:endParaRPr lang="en-US" sz="33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0020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58"/>
              </a:lnSpc>
              <a:buNone/>
            </a:pPr>
            <a:r>
              <a:rPr lang="en-US" sz="13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guest is identified once and read by every surface below the enterprise stack — consistently, in every property, whatever the brand standard requires.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4480560" y="3310128"/>
            <a:ext cx="3200400" cy="1051560"/>
          </a:xfrm>
          <a:prstGeom prst="roundRect">
            <a:avLst>
              <a:gd name="adj" fmla="val 10435"/>
            </a:avLst>
          </a:prstGeom>
          <a:solidFill>
            <a:srgbClr val="0B1220"/>
          </a:solidFill>
          <a:ln w="12700">
            <a:solidFill>
              <a:srgbClr val="0B1220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4480560" y="3465576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20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GUEST RECORD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4480560" y="3776472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· preferences · history · consent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40080" y="2697480"/>
            <a:ext cx="2514600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640080" y="269748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Pre-arrival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1897380" y="3154680"/>
            <a:ext cx="0" cy="155448"/>
          </a:xfrm>
          <a:prstGeom prst="line">
            <a:avLst/>
          </a:prstGeom>
          <a:noFill/>
          <a:ln w="19050">
            <a:solidFill>
              <a:srgbClr val="A87C1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520440" y="2697480"/>
            <a:ext cx="2514600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3520440" y="269748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 desk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777740" y="3154680"/>
            <a:ext cx="0" cy="155448"/>
          </a:xfrm>
          <a:prstGeom prst="line">
            <a:avLst/>
          </a:prstGeom>
          <a:noFill/>
          <a:ln w="19050">
            <a:solidFill>
              <a:srgbClr val="A87C1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0" y="2697480"/>
            <a:ext cx="2514600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6400800" y="269748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In-room TV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658100" y="3154680"/>
            <a:ext cx="0" cy="155448"/>
          </a:xfrm>
          <a:prstGeom prst="line">
            <a:avLst/>
          </a:prstGeom>
          <a:noFill/>
          <a:ln w="19050">
            <a:solidFill>
              <a:srgbClr val="A87C1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281160" y="2697480"/>
            <a:ext cx="2514600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9281160" y="269748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Guest mobile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10538460" y="3154680"/>
            <a:ext cx="0" cy="155448"/>
          </a:xfrm>
          <a:prstGeom prst="line">
            <a:avLst/>
          </a:prstGeom>
          <a:noFill/>
          <a:ln w="19050">
            <a:solidFill>
              <a:srgbClr val="A87C1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0080" y="4517136"/>
            <a:ext cx="2514600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640080" y="4517136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Restaurant &amp; bar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1897380" y="4361688"/>
            <a:ext cx="0" cy="155448"/>
          </a:xfrm>
          <a:prstGeom prst="line">
            <a:avLst/>
          </a:prstGeom>
          <a:noFill/>
          <a:ln w="19050">
            <a:solidFill>
              <a:srgbClr val="A87C1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520440" y="4517136"/>
            <a:ext cx="2514600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3520440" y="4517136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Concierge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777740" y="4361688"/>
            <a:ext cx="0" cy="155448"/>
          </a:xfrm>
          <a:prstGeom prst="line">
            <a:avLst/>
          </a:prstGeom>
          <a:noFill/>
          <a:ln w="19050">
            <a:solidFill>
              <a:srgbClr val="A87C1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400800" y="4517136"/>
            <a:ext cx="2514600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6400800" y="4517136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&amp; folio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7658100" y="4361688"/>
            <a:ext cx="0" cy="155448"/>
          </a:xfrm>
          <a:prstGeom prst="line">
            <a:avLst/>
          </a:prstGeom>
          <a:noFill/>
          <a:ln w="19050">
            <a:solidFill>
              <a:srgbClr val="A87C1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281160" y="4517136"/>
            <a:ext cx="2514600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30" name="Text 28"/>
          <p:cNvSpPr txBox="1"/>
          <p:nvPr/>
        </p:nvSpPr>
        <p:spPr>
          <a:xfrm>
            <a:off x="9281160" y="4517136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reporting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10538460" y="4361688"/>
            <a:ext cx="0" cy="155448"/>
          </a:xfrm>
          <a:prstGeom prst="line">
            <a:avLst/>
          </a:prstGeom>
          <a:noFill/>
          <a:ln w="19050">
            <a:solidFill>
              <a:srgbClr val="A87C1F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40080" y="534924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A87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deployment model, repeated per property — so the estate converges instead of diverging.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87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0B12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we sit in your stack</a:t>
            </a:r>
            <a:endParaRPr lang="en-US" sz="33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554480"/>
            <a:ext cx="9601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58"/>
              </a:lnSpc>
              <a:buNone/>
            </a:pPr>
            <a:r>
              <a:rPr lang="en-US" sz="13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do not replace central reservations, the property management system, or the loyalty programme. We consume them, and we own the layer they do not reach.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084832"/>
            <a:ext cx="10911535" cy="914400"/>
          </a:xfrm>
          <a:prstGeom prst="roundRect">
            <a:avLst>
              <a:gd name="adj" fmla="val 9000"/>
            </a:avLst>
          </a:prstGeom>
          <a:solidFill>
            <a:srgbClr val="0B1220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932688" y="2212848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YOURS — ENTERPRISE, UNCHANGED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932688" y="2505456"/>
            <a:ext cx="2011680" cy="365760"/>
          </a:xfrm>
          <a:prstGeom prst="roundRect">
            <a:avLst>
              <a:gd name="adj" fmla="val 50000"/>
            </a:avLst>
          </a:prstGeom>
          <a:solidFill>
            <a:srgbClr val="1C2942"/>
          </a:solidFill>
          <a:ln w="12700">
            <a:solidFill>
              <a:srgbClr val="27354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2505456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reservations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072384" y="2505456"/>
            <a:ext cx="2011680" cy="365760"/>
          </a:xfrm>
          <a:prstGeom prst="roundRect">
            <a:avLst>
              <a:gd name="adj" fmla="val 50000"/>
            </a:avLst>
          </a:prstGeom>
          <a:solidFill>
            <a:srgbClr val="1C2942"/>
          </a:solidFill>
          <a:ln w="12700">
            <a:solidFill>
              <a:srgbClr val="27354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072384" y="2505456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Property management system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212080" y="2505456"/>
            <a:ext cx="2011680" cy="365760"/>
          </a:xfrm>
          <a:prstGeom prst="roundRect">
            <a:avLst>
              <a:gd name="adj" fmla="val 50000"/>
            </a:avLst>
          </a:prstGeom>
          <a:solidFill>
            <a:srgbClr val="1C2942"/>
          </a:solidFill>
          <a:ln w="12700">
            <a:solidFill>
              <a:srgbClr val="27354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212080" y="2505456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loyalty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7351776" y="2505456"/>
            <a:ext cx="2011680" cy="365760"/>
          </a:xfrm>
          <a:prstGeom prst="roundRect">
            <a:avLst>
              <a:gd name="adj" fmla="val 50000"/>
            </a:avLst>
          </a:prstGeom>
          <a:solidFill>
            <a:srgbClr val="1C2942"/>
          </a:solidFill>
          <a:ln w="12700">
            <a:solidFill>
              <a:srgbClr val="27354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51776" y="2505456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Corporate finance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9491472" y="2505456"/>
            <a:ext cx="2011680" cy="365760"/>
          </a:xfrm>
          <a:prstGeom prst="roundRect">
            <a:avLst>
              <a:gd name="adj" fmla="val 50000"/>
            </a:avLst>
          </a:prstGeom>
          <a:solidFill>
            <a:srgbClr val="1C2942"/>
          </a:solidFill>
          <a:ln w="12700">
            <a:solidFill>
              <a:srgbClr val="27354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491472" y="2505456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/ SSO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1737360" y="3035808"/>
            <a:ext cx="0" cy="274320"/>
          </a:xfrm>
          <a:prstGeom prst="line">
            <a:avLst/>
          </a:prstGeom>
          <a:noFill/>
          <a:ln w="19050">
            <a:solidFill>
              <a:srgbClr val="A87C1F"/>
            </a:solidFill>
            <a:prstDash val="solid"/>
            <a:headEnd type="triangle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10515600" y="3035808"/>
            <a:ext cx="0" cy="274320"/>
          </a:xfrm>
          <a:prstGeom prst="line">
            <a:avLst/>
          </a:prstGeom>
          <a:noFill/>
          <a:ln w="19050">
            <a:solidFill>
              <a:srgbClr val="A87C1F"/>
            </a:solidFill>
            <a:prstDash val="solid"/>
            <a:headEnd type="triangle"/>
            <a:tailEnd type="triangle"/>
          </a:ln>
        </p:spPr>
      </p:sp>
      <p:sp>
        <p:nvSpPr>
          <p:cNvPr id="19" name="Text 17"/>
          <p:cNvSpPr txBox="1"/>
          <p:nvPr/>
        </p:nvSpPr>
        <p:spPr>
          <a:xfrm>
            <a:off x="640080" y="3063240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A87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guest &amp; stay sync  ·  folio posting  ·  loyalty accrual  ·  single sign-on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640080" y="3383280"/>
            <a:ext cx="10911535" cy="1234440"/>
          </a:xfrm>
          <a:prstGeom prst="roundRect">
            <a:avLst>
              <a:gd name="adj" fmla="val 6667"/>
            </a:avLst>
          </a:prstGeom>
          <a:solidFill>
            <a:srgbClr val="FBF6E9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932688" y="3511296"/>
            <a:ext cx="4023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A87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OURS — THE PROPERTY GUEST LAYER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932688" y="3803904"/>
            <a:ext cx="1243584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A87C1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69264" y="3803904"/>
            <a:ext cx="11704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9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</a:t>
            </a:r>
            <a:endParaRPr lang="en-US" sz="900" dirty="0"/>
          </a:p>
          <a:p>
            <a:pPr algn="ctr" indent="0" marL="0">
              <a:lnSpc>
                <a:spcPts val="1100"/>
              </a:lnSpc>
              <a:buNone/>
            </a:pPr>
            <a:r>
              <a:rPr lang="en-US" sz="9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documents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2253996" y="3803904"/>
            <a:ext cx="1243584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A87C1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2290572" y="3803904"/>
            <a:ext cx="11704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9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Guest</a:t>
            </a:r>
            <a:endParaRPr lang="en-US" sz="900" dirty="0"/>
          </a:p>
          <a:p>
            <a:pPr algn="ctr" indent="0" marL="0">
              <a:lnSpc>
                <a:spcPts val="1100"/>
              </a:lnSpc>
              <a:buNone/>
            </a:pPr>
            <a:r>
              <a:rPr lang="en-US" sz="9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575304" y="3803904"/>
            <a:ext cx="1243584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A87C1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3611880" y="3803904"/>
            <a:ext cx="11704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9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Facility</a:t>
            </a:r>
            <a:endParaRPr lang="en-US" sz="900" dirty="0"/>
          </a:p>
          <a:p>
            <a:pPr algn="ctr" indent="0" marL="0">
              <a:lnSpc>
                <a:spcPts val="1100"/>
              </a:lnSpc>
              <a:buNone/>
            </a:pPr>
            <a:r>
              <a:rPr lang="en-US" sz="9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reservations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4896612" y="3803904"/>
            <a:ext cx="1243584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A87C1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4933188" y="3803904"/>
            <a:ext cx="11704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9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Payments</a:t>
            </a:r>
            <a:endParaRPr lang="en-US" sz="900" dirty="0"/>
          </a:p>
          <a:p>
            <a:pPr algn="ctr" indent="0" marL="0">
              <a:lnSpc>
                <a:spcPts val="1100"/>
              </a:lnSpc>
              <a:buNone/>
            </a:pPr>
            <a:r>
              <a:rPr lang="en-US" sz="9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folio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6217920" y="3803904"/>
            <a:ext cx="1243584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A87C1F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254496" y="3803904"/>
            <a:ext cx="11704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9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Ordering</a:t>
            </a:r>
            <a:endParaRPr lang="en-US" sz="900" dirty="0"/>
          </a:p>
          <a:p>
            <a:pPr algn="ctr" indent="0" marL="0">
              <a:lnSpc>
                <a:spcPts val="1100"/>
              </a:lnSpc>
              <a:buNone/>
            </a:pPr>
            <a:r>
              <a:rPr lang="en-US" sz="9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F&amp;B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7539228" y="3803904"/>
            <a:ext cx="1243584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A87C1F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575804" y="3803904"/>
            <a:ext cx="11704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9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Concierge</a:t>
            </a:r>
            <a:endParaRPr lang="en-US" sz="900" dirty="0"/>
          </a:p>
          <a:p>
            <a:pPr algn="ctr" indent="0" marL="0">
              <a:lnSpc>
                <a:spcPts val="1100"/>
              </a:lnSpc>
              <a:buNone/>
            </a:pPr>
            <a:r>
              <a:rPr lang="en-US" sz="9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service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8860536" y="3803904"/>
            <a:ext cx="1243584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A87C1F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897112" y="3803904"/>
            <a:ext cx="11704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9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Entertainment</a:t>
            </a:r>
            <a:endParaRPr lang="en-US" sz="900" dirty="0"/>
          </a:p>
          <a:p>
            <a:pPr algn="ctr" indent="0" marL="0">
              <a:lnSpc>
                <a:spcPts val="1100"/>
              </a:lnSpc>
              <a:buNone/>
            </a:pPr>
            <a:r>
              <a:rPr lang="en-US" sz="9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TV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10181844" y="3803904"/>
            <a:ext cx="1243584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A87C1F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10218420" y="3803904"/>
            <a:ext cx="11704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9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Operations</a:t>
            </a:r>
            <a:endParaRPr lang="en-US" sz="900" dirty="0"/>
          </a:p>
          <a:p>
            <a:pPr algn="ctr" indent="0" marL="0">
              <a:lnSpc>
                <a:spcPts val="1100"/>
              </a:lnSpc>
              <a:buNone/>
            </a:pPr>
            <a:r>
              <a:rPr lang="en-US" sz="9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analytics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1737360" y="4654296"/>
            <a:ext cx="0" cy="256032"/>
          </a:xfrm>
          <a:prstGeom prst="line">
            <a:avLst/>
          </a:prstGeom>
          <a:noFill/>
          <a:ln w="19050">
            <a:solidFill>
              <a:srgbClr val="A87C1F"/>
            </a:solidFill>
            <a:prstDash val="solid"/>
            <a:tailEnd type="triangle"/>
          </a:ln>
        </p:spPr>
      </p:sp>
      <p:sp>
        <p:nvSpPr>
          <p:cNvPr id="39" name="Shape 37"/>
          <p:cNvSpPr/>
          <p:nvPr/>
        </p:nvSpPr>
        <p:spPr>
          <a:xfrm>
            <a:off x="6099048" y="4654296"/>
            <a:ext cx="0" cy="256032"/>
          </a:xfrm>
          <a:prstGeom prst="line">
            <a:avLst/>
          </a:prstGeom>
          <a:noFill/>
          <a:ln w="19050">
            <a:solidFill>
              <a:srgbClr val="A87C1F"/>
            </a:solidFill>
            <a:prstDash val="solid"/>
            <a:tailEnd type="triangle"/>
          </a:ln>
        </p:spPr>
      </p:sp>
      <p:sp>
        <p:nvSpPr>
          <p:cNvPr id="40" name="Shape 38"/>
          <p:cNvSpPr/>
          <p:nvPr/>
        </p:nvSpPr>
        <p:spPr>
          <a:xfrm>
            <a:off x="10515600" y="4654296"/>
            <a:ext cx="0" cy="256032"/>
          </a:xfrm>
          <a:prstGeom prst="line">
            <a:avLst/>
          </a:prstGeom>
          <a:noFill/>
          <a:ln w="19050">
            <a:solidFill>
              <a:srgbClr val="A87C1F"/>
            </a:solidFill>
            <a:prstDash val="solid"/>
            <a:tailEnd type="triangle"/>
          </a:ln>
        </p:spPr>
      </p:sp>
      <p:sp>
        <p:nvSpPr>
          <p:cNvPr id="41" name="Shape 39"/>
          <p:cNvSpPr/>
          <p:nvPr/>
        </p:nvSpPr>
        <p:spPr>
          <a:xfrm>
            <a:off x="640080" y="4983480"/>
            <a:ext cx="10911535" cy="868680"/>
          </a:xfrm>
          <a:prstGeom prst="roundRect">
            <a:avLst>
              <a:gd name="adj" fmla="val 9474"/>
            </a:avLst>
          </a:prstGeom>
          <a:solidFill>
            <a:srgbClr val="F5F7FA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42" name="Text 40"/>
          <p:cNvSpPr txBox="1"/>
          <p:nvPr/>
        </p:nvSpPr>
        <p:spPr>
          <a:xfrm>
            <a:off x="932688" y="5093208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SURFACES</a:t>
            </a:r>
            <a:endParaRPr lang="en-US" sz="1000" dirty="0"/>
          </a:p>
        </p:txBody>
      </p:sp>
      <p:sp>
        <p:nvSpPr>
          <p:cNvPr id="43" name="Text 41"/>
          <p:cNvSpPr txBox="1"/>
          <p:nvPr/>
        </p:nvSpPr>
        <p:spPr>
          <a:xfrm>
            <a:off x="2926080" y="507492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In-room TV</a:t>
            </a:r>
            <a:endParaRPr lang="en-US" sz="950" dirty="0"/>
          </a:p>
        </p:txBody>
      </p:sp>
      <p:sp>
        <p:nvSpPr>
          <p:cNvPr id="44" name="Text 42"/>
          <p:cNvSpPr txBox="1"/>
          <p:nvPr/>
        </p:nvSpPr>
        <p:spPr>
          <a:xfrm>
            <a:off x="4151376" y="507492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Guest mobile</a:t>
            </a:r>
            <a:endParaRPr lang="en-US" sz="950" dirty="0"/>
          </a:p>
        </p:txBody>
      </p:sp>
      <p:sp>
        <p:nvSpPr>
          <p:cNvPr id="45" name="Text 43"/>
          <p:cNvSpPr txBox="1"/>
          <p:nvPr/>
        </p:nvSpPr>
        <p:spPr>
          <a:xfrm>
            <a:off x="5376672" y="507492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 on site</a:t>
            </a:r>
            <a:endParaRPr lang="en-US" sz="950" dirty="0"/>
          </a:p>
        </p:txBody>
      </p:sp>
      <p:sp>
        <p:nvSpPr>
          <p:cNvPr id="46" name="Text 44"/>
          <p:cNvSpPr txBox="1"/>
          <p:nvPr/>
        </p:nvSpPr>
        <p:spPr>
          <a:xfrm>
            <a:off x="6601968" y="507492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 desk</a:t>
            </a:r>
            <a:endParaRPr lang="en-US" sz="950" dirty="0"/>
          </a:p>
        </p:txBody>
      </p:sp>
      <p:sp>
        <p:nvSpPr>
          <p:cNvPr id="47" name="Text 45"/>
          <p:cNvSpPr txBox="1"/>
          <p:nvPr/>
        </p:nvSpPr>
        <p:spPr>
          <a:xfrm>
            <a:off x="7827264" y="507492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Kitchen display</a:t>
            </a:r>
            <a:endParaRPr lang="en-US" sz="950" dirty="0"/>
          </a:p>
        </p:txBody>
      </p:sp>
      <p:sp>
        <p:nvSpPr>
          <p:cNvPr id="48" name="Text 46"/>
          <p:cNvSpPr txBox="1"/>
          <p:nvPr/>
        </p:nvSpPr>
        <p:spPr>
          <a:xfrm>
            <a:off x="9052560" y="507492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Housekeeping</a:t>
            </a:r>
            <a:endParaRPr lang="en-US" sz="950" dirty="0"/>
          </a:p>
        </p:txBody>
      </p:sp>
      <p:sp>
        <p:nvSpPr>
          <p:cNvPr id="49" name="Text 47"/>
          <p:cNvSpPr txBox="1"/>
          <p:nvPr/>
        </p:nvSpPr>
        <p:spPr>
          <a:xfrm>
            <a:off x="10277856" y="507492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Manager view</a:t>
            </a:r>
            <a:endParaRPr lang="en-US" sz="950" dirty="0"/>
          </a:p>
        </p:txBody>
      </p:sp>
      <p:sp>
        <p:nvSpPr>
          <p:cNvPr id="50" name="Text 48"/>
          <p:cNvSpPr txBox="1"/>
          <p:nvPr/>
        </p:nvSpPr>
        <p:spPr>
          <a:xfrm>
            <a:off x="2926080" y="5468112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guest-facing</a:t>
            </a:r>
            <a:endParaRPr lang="en-US" sz="900" dirty="0"/>
          </a:p>
        </p:txBody>
      </p:sp>
      <p:sp>
        <p:nvSpPr>
          <p:cNvPr id="51" name="Text 49"/>
          <p:cNvSpPr txBox="1"/>
          <p:nvPr/>
        </p:nvSpPr>
        <p:spPr>
          <a:xfrm>
            <a:off x="6583680" y="5468112"/>
            <a:ext cx="4846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staff-facing</a:t>
            </a:r>
            <a:endParaRPr lang="en-US" sz="900" dirty="0"/>
          </a:p>
        </p:txBody>
      </p:sp>
      <p:sp>
        <p:nvSpPr>
          <p:cNvPr id="52" name="Text 50"/>
          <p:cNvSpPr txBox="1"/>
          <p:nvPr/>
        </p:nvSpPr>
        <p:spPr>
          <a:xfrm>
            <a:off x="640080" y="6291072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is scoped per PMS and per loyalty platform. We do not promise a generic connector — the interface is agreed before the pilot.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87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A GLANCE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0B12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Nine modules, one platform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40080" y="1572768"/>
            <a:ext cx="3429000" cy="1170432"/>
          </a:xfrm>
          <a:prstGeom prst="roundRect">
            <a:avLst>
              <a:gd name="adj" fmla="val 7031"/>
            </a:avLst>
          </a:prstGeom>
          <a:solidFill>
            <a:srgbClr val="F5F7FA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77824" y="1810512"/>
            <a:ext cx="420624" cy="420624"/>
          </a:xfrm>
          <a:prstGeom prst="ellipse">
            <a:avLst/>
          </a:prstGeom>
          <a:solidFill>
            <a:srgbClr val="A87C1F"/>
          </a:solidFill>
          <a:ln w="12700">
            <a:solidFill>
              <a:srgbClr val="A87C1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77824" y="18105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417320" y="1792224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&amp; Documents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1417320" y="2103120"/>
            <a:ext cx="2423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Scanning, OCR, e-signature, secure vault, statutory guest register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471416" y="1572768"/>
            <a:ext cx="3429000" cy="1170432"/>
          </a:xfrm>
          <a:prstGeom prst="roundRect">
            <a:avLst>
              <a:gd name="adj" fmla="val 7031"/>
            </a:avLst>
          </a:prstGeom>
          <a:solidFill>
            <a:srgbClr val="F5F7FA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09160" y="1810512"/>
            <a:ext cx="420624" cy="420624"/>
          </a:xfrm>
          <a:prstGeom prst="ellipse">
            <a:avLst/>
          </a:prstGeom>
          <a:solidFill>
            <a:srgbClr val="A87C1F"/>
          </a:solidFill>
          <a:ln w="12700">
            <a:solidFill>
              <a:srgbClr val="A87C1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709160" y="18105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248656" y="1792224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Guest Profile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5248656" y="2103120"/>
            <a:ext cx="2423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Preferences, allergies, stay and spend history, consent ledger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302752" y="1572768"/>
            <a:ext cx="3429000" cy="1170432"/>
          </a:xfrm>
          <a:prstGeom prst="roundRect">
            <a:avLst>
              <a:gd name="adj" fmla="val 7031"/>
            </a:avLst>
          </a:prstGeom>
          <a:solidFill>
            <a:srgbClr val="F5F7FA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540496" y="1810512"/>
            <a:ext cx="420624" cy="420624"/>
          </a:xfrm>
          <a:prstGeom prst="ellipse">
            <a:avLst/>
          </a:prstGeom>
          <a:solidFill>
            <a:srgbClr val="A87C1F"/>
          </a:solidFill>
          <a:ln w="12700">
            <a:solidFill>
              <a:srgbClr val="A87C1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540496" y="18105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BK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9079992" y="1792224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9079992" y="2103120"/>
            <a:ext cx="2423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engine where you need one; pre-arrival upsell on every reservation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40080" y="2962656"/>
            <a:ext cx="3429000" cy="1170432"/>
          </a:xfrm>
          <a:prstGeom prst="roundRect">
            <a:avLst>
              <a:gd name="adj" fmla="val 7031"/>
            </a:avLst>
          </a:prstGeom>
          <a:solidFill>
            <a:srgbClr val="F5F7FA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77824" y="3200400"/>
            <a:ext cx="420624" cy="420624"/>
          </a:xfrm>
          <a:prstGeom prst="ellipse">
            <a:avLst/>
          </a:prstGeom>
          <a:solidFill>
            <a:srgbClr val="A87C1F"/>
          </a:solidFill>
          <a:ln w="12700">
            <a:solidFill>
              <a:srgbClr val="A87C1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77824" y="32004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417320" y="3182112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Reservations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1417320" y="3493008"/>
            <a:ext cx="2423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Tables, spa, gym, function rooms, tours, transfers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471416" y="2962656"/>
            <a:ext cx="3429000" cy="1170432"/>
          </a:xfrm>
          <a:prstGeom prst="roundRect">
            <a:avLst>
              <a:gd name="adj" fmla="val 7031"/>
            </a:avLst>
          </a:prstGeom>
          <a:solidFill>
            <a:srgbClr val="F5F7FA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709160" y="3200400"/>
            <a:ext cx="420624" cy="420624"/>
          </a:xfrm>
          <a:prstGeom prst="ellipse">
            <a:avLst/>
          </a:prstGeom>
          <a:solidFill>
            <a:srgbClr val="A87C1F"/>
          </a:solidFill>
          <a:ln w="12700">
            <a:solidFill>
              <a:srgbClr val="A87C1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709160" y="32004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5248656" y="3182112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Payments &amp; Folio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5248656" y="3493008"/>
            <a:ext cx="2423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Cards, wallets, room charge, split billing, settlement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8302752" y="2962656"/>
            <a:ext cx="3429000" cy="1170432"/>
          </a:xfrm>
          <a:prstGeom prst="roundRect">
            <a:avLst>
              <a:gd name="adj" fmla="val 7031"/>
            </a:avLst>
          </a:prstGeom>
          <a:solidFill>
            <a:srgbClr val="F5F7FA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8540496" y="3200400"/>
            <a:ext cx="420624" cy="420624"/>
          </a:xfrm>
          <a:prstGeom prst="ellipse">
            <a:avLst/>
          </a:prstGeom>
          <a:solidFill>
            <a:srgbClr val="A87C1F"/>
          </a:solidFill>
          <a:ln w="12700">
            <a:solidFill>
              <a:srgbClr val="A87C1F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540496" y="32004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9079992" y="3182112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Ordering</a:t>
            </a:r>
            <a:endParaRPr lang="en-US" sz="1350" dirty="0"/>
          </a:p>
        </p:txBody>
      </p:sp>
      <p:sp>
        <p:nvSpPr>
          <p:cNvPr id="33" name="Text 31"/>
          <p:cNvSpPr txBox="1"/>
          <p:nvPr/>
        </p:nvSpPr>
        <p:spPr>
          <a:xfrm>
            <a:off x="9079992" y="3493008"/>
            <a:ext cx="2423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Restaurant, bar, in-room dining, QR, kitchen display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640080" y="4352544"/>
            <a:ext cx="3429000" cy="1170432"/>
          </a:xfrm>
          <a:prstGeom prst="roundRect">
            <a:avLst>
              <a:gd name="adj" fmla="val 7031"/>
            </a:avLst>
          </a:prstGeom>
          <a:solidFill>
            <a:srgbClr val="F5F7FA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877824" y="4590288"/>
            <a:ext cx="420624" cy="420624"/>
          </a:xfrm>
          <a:prstGeom prst="ellipse">
            <a:avLst/>
          </a:prstGeom>
          <a:solidFill>
            <a:srgbClr val="A87C1F"/>
          </a:solidFill>
          <a:ln w="12700">
            <a:solidFill>
              <a:srgbClr val="A87C1F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877824" y="45902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1417320" y="457200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Concierge &amp; Service</a:t>
            </a:r>
            <a:endParaRPr lang="en-US" sz="1350" dirty="0"/>
          </a:p>
        </p:txBody>
      </p:sp>
      <p:sp>
        <p:nvSpPr>
          <p:cNvPr id="38" name="Text 36"/>
          <p:cNvSpPr txBox="1"/>
          <p:nvPr/>
        </p:nvSpPr>
        <p:spPr>
          <a:xfrm>
            <a:off x="1417320" y="4882896"/>
            <a:ext cx="2423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Requests, SLA ticketing, housekeeping, maintenance, chat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4471416" y="4352544"/>
            <a:ext cx="3429000" cy="1170432"/>
          </a:xfrm>
          <a:prstGeom prst="roundRect">
            <a:avLst>
              <a:gd name="adj" fmla="val 7031"/>
            </a:avLst>
          </a:prstGeom>
          <a:solidFill>
            <a:srgbClr val="F5F7FA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4709160" y="4590288"/>
            <a:ext cx="420624" cy="420624"/>
          </a:xfrm>
          <a:prstGeom prst="ellipse">
            <a:avLst/>
          </a:prstGeom>
          <a:solidFill>
            <a:srgbClr val="A87C1F"/>
          </a:solidFill>
          <a:ln w="12700">
            <a:solidFill>
              <a:srgbClr val="A87C1F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4709160" y="45902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TV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5248656" y="457200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Entertainment</a:t>
            </a:r>
            <a:endParaRPr lang="en-US" sz="1350" dirty="0"/>
          </a:p>
        </p:txBody>
      </p:sp>
      <p:sp>
        <p:nvSpPr>
          <p:cNvPr id="43" name="Text 41"/>
          <p:cNvSpPr txBox="1"/>
          <p:nvPr/>
        </p:nvSpPr>
        <p:spPr>
          <a:xfrm>
            <a:off x="5248656" y="4882896"/>
            <a:ext cx="2423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Guest TV application, live and on-demand, Orpheus Nations, casting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8302752" y="4352544"/>
            <a:ext cx="3429000" cy="1170432"/>
          </a:xfrm>
          <a:prstGeom prst="roundRect">
            <a:avLst>
              <a:gd name="adj" fmla="val 7031"/>
            </a:avLst>
          </a:prstGeom>
          <a:solidFill>
            <a:srgbClr val="F5F7FA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45" name="Shape 43"/>
          <p:cNvSpPr/>
          <p:nvPr/>
        </p:nvSpPr>
        <p:spPr>
          <a:xfrm>
            <a:off x="8540496" y="4590288"/>
            <a:ext cx="420624" cy="420624"/>
          </a:xfrm>
          <a:prstGeom prst="ellipse">
            <a:avLst/>
          </a:prstGeom>
          <a:solidFill>
            <a:srgbClr val="A87C1F"/>
          </a:solidFill>
          <a:ln w="12700">
            <a:solidFill>
              <a:srgbClr val="A87C1F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8540496" y="45902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9079992" y="457200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Operations</a:t>
            </a:r>
            <a:endParaRPr lang="en-US" sz="1350" dirty="0"/>
          </a:p>
        </p:txBody>
      </p:sp>
      <p:sp>
        <p:nvSpPr>
          <p:cNvPr id="48" name="Text 46"/>
          <p:cNvSpPr txBox="1"/>
          <p:nvPr/>
        </p:nvSpPr>
        <p:spPr>
          <a:xfrm>
            <a:off x="9079992" y="4882896"/>
            <a:ext cx="2423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Property and estate dashboards, RBAC, multi-property, audit</a:t>
            </a:r>
            <a:endParaRPr lang="en-US" sz="1050" dirty="0"/>
          </a:p>
        </p:txBody>
      </p:sp>
      <p:sp>
        <p:nvSpPr>
          <p:cNvPr id="49" name="Text 47"/>
          <p:cNvSpPr txBox="1"/>
          <p:nvPr/>
        </p:nvSpPr>
        <p:spPr>
          <a:xfrm>
            <a:off x="640080" y="576072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A87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Adopted as a whole, or module by module against the gaps in a given property — the guest record is shared from the first one.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87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TO END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0B12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guest actually experiences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1764792" cy="2788920"/>
          </a:xfrm>
          <a:prstGeom prst="roundRect">
            <a:avLst>
              <a:gd name="adj" fmla="val 4663"/>
            </a:avLst>
          </a:prstGeom>
          <a:solidFill>
            <a:srgbClr val="F5F7FA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303020" y="2157984"/>
            <a:ext cx="438912" cy="438912"/>
          </a:xfrm>
          <a:prstGeom prst="ellipse">
            <a:avLst/>
          </a:prstGeom>
          <a:solidFill>
            <a:srgbClr val="A87C1F"/>
          </a:solidFill>
          <a:ln w="12700">
            <a:solidFill>
              <a:srgbClr val="A87C1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303020" y="215798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786384" y="2743200"/>
            <a:ext cx="1472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804672" y="3127248"/>
            <a:ext cx="143560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 your central reservations, unchanged. We pick the guest up on confirmation.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423160" y="2377440"/>
            <a:ext cx="91440" cy="0"/>
          </a:xfrm>
          <a:prstGeom prst="line">
            <a:avLst/>
          </a:prstGeom>
          <a:noFill/>
          <a:ln w="19050">
            <a:solidFill>
              <a:srgbClr val="A87C1F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2532888" y="1920240"/>
            <a:ext cx="1764792" cy="2788920"/>
          </a:xfrm>
          <a:prstGeom prst="roundRect">
            <a:avLst>
              <a:gd name="adj" fmla="val 4663"/>
            </a:avLst>
          </a:prstGeom>
          <a:solidFill>
            <a:srgbClr val="F5F7FA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195828" y="2157984"/>
            <a:ext cx="438912" cy="438912"/>
          </a:xfrm>
          <a:prstGeom prst="ellipse">
            <a:avLst/>
          </a:prstGeom>
          <a:solidFill>
            <a:srgbClr val="A87C1F"/>
          </a:solidFill>
          <a:ln w="12700">
            <a:solidFill>
              <a:srgbClr val="A87C1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195828" y="215798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2679192" y="2743200"/>
            <a:ext cx="1472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Pre-arrival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2697480" y="3127248"/>
            <a:ext cx="143560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Passport scanned at home, registration card signed, card authorised, upsell offered.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315968" y="2377440"/>
            <a:ext cx="91440" cy="0"/>
          </a:xfrm>
          <a:prstGeom prst="line">
            <a:avLst/>
          </a:prstGeom>
          <a:noFill/>
          <a:ln w="19050">
            <a:solidFill>
              <a:srgbClr val="A87C1F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4425696" y="1920240"/>
            <a:ext cx="1764792" cy="2788920"/>
          </a:xfrm>
          <a:prstGeom prst="roundRect">
            <a:avLst>
              <a:gd name="adj" fmla="val 4663"/>
            </a:avLst>
          </a:prstGeom>
          <a:solidFill>
            <a:srgbClr val="F5F7FA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088636" y="2157984"/>
            <a:ext cx="438912" cy="438912"/>
          </a:xfrm>
          <a:prstGeom prst="ellipse">
            <a:avLst/>
          </a:prstGeom>
          <a:solidFill>
            <a:srgbClr val="A87C1F"/>
          </a:solidFill>
          <a:ln w="12700">
            <a:solidFill>
              <a:srgbClr val="A87C1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088636" y="215798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0" y="2743200"/>
            <a:ext cx="1472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Arrive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4590288" y="3127248"/>
            <a:ext cx="143560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the desk. Key issued, and the television already greets them by name.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208776" y="2377440"/>
            <a:ext cx="91440" cy="0"/>
          </a:xfrm>
          <a:prstGeom prst="line">
            <a:avLst/>
          </a:prstGeom>
          <a:noFill/>
          <a:ln w="19050">
            <a:solidFill>
              <a:srgbClr val="A87C1F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6318504" y="1920240"/>
            <a:ext cx="1764792" cy="2788920"/>
          </a:xfrm>
          <a:prstGeom prst="roundRect">
            <a:avLst>
              <a:gd name="adj" fmla="val 4663"/>
            </a:avLst>
          </a:prstGeom>
          <a:solidFill>
            <a:srgbClr val="FBF6E9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981444" y="2157984"/>
            <a:ext cx="438912" cy="438912"/>
          </a:xfrm>
          <a:prstGeom prst="ellipse">
            <a:avLst/>
          </a:prstGeom>
          <a:solidFill>
            <a:srgbClr val="A87C1F"/>
          </a:solidFill>
          <a:ln w="12700">
            <a:solidFill>
              <a:srgbClr val="A87C1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981444" y="215798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6464808" y="2743200"/>
            <a:ext cx="1472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Stay</a:t>
            </a:r>
            <a:endParaRPr lang="en-US" sz="1350" dirty="0"/>
          </a:p>
        </p:txBody>
      </p:sp>
      <p:sp>
        <p:nvSpPr>
          <p:cNvPr id="26" name="Text 24"/>
          <p:cNvSpPr txBox="1"/>
          <p:nvPr/>
        </p:nvSpPr>
        <p:spPr>
          <a:xfrm>
            <a:off x="6483096" y="3127248"/>
            <a:ext cx="143560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Dinner, the spa, the concierge — from the remote or their own phone.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8101584" y="2377440"/>
            <a:ext cx="91440" cy="0"/>
          </a:xfrm>
          <a:prstGeom prst="line">
            <a:avLst/>
          </a:prstGeom>
          <a:noFill/>
          <a:ln w="19050">
            <a:solidFill>
              <a:srgbClr val="A87C1F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8211312" y="1920240"/>
            <a:ext cx="1764792" cy="2788920"/>
          </a:xfrm>
          <a:prstGeom prst="roundRect">
            <a:avLst>
              <a:gd name="adj" fmla="val 4663"/>
            </a:avLst>
          </a:prstGeom>
          <a:solidFill>
            <a:srgbClr val="F5F7FA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8874252" y="2157984"/>
            <a:ext cx="438912" cy="438912"/>
          </a:xfrm>
          <a:prstGeom prst="ellipse">
            <a:avLst/>
          </a:prstGeom>
          <a:solidFill>
            <a:srgbClr val="A87C1F"/>
          </a:solidFill>
          <a:ln w="12700">
            <a:solidFill>
              <a:srgbClr val="A87C1F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874252" y="215798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8357616" y="2743200"/>
            <a:ext cx="1472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out</a:t>
            </a:r>
            <a:endParaRPr lang="en-US" sz="1350" dirty="0"/>
          </a:p>
        </p:txBody>
      </p:sp>
      <p:sp>
        <p:nvSpPr>
          <p:cNvPr id="32" name="Text 30"/>
          <p:cNvSpPr txBox="1"/>
          <p:nvPr/>
        </p:nvSpPr>
        <p:spPr>
          <a:xfrm>
            <a:off x="8375904" y="3127248"/>
            <a:ext cx="143560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Folio reviewed on screen, settled, gone. No queue.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9994392" y="2377440"/>
            <a:ext cx="91440" cy="0"/>
          </a:xfrm>
          <a:prstGeom prst="line">
            <a:avLst/>
          </a:prstGeom>
          <a:noFill/>
          <a:ln w="19050">
            <a:solidFill>
              <a:srgbClr val="A87C1F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10104120" y="1920240"/>
            <a:ext cx="1764792" cy="2788920"/>
          </a:xfrm>
          <a:prstGeom prst="roundRect">
            <a:avLst>
              <a:gd name="adj" fmla="val 4663"/>
            </a:avLst>
          </a:prstGeom>
          <a:solidFill>
            <a:srgbClr val="FBF6E9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10767060" y="2157984"/>
            <a:ext cx="438912" cy="438912"/>
          </a:xfrm>
          <a:prstGeom prst="ellipse">
            <a:avLst/>
          </a:prstGeom>
          <a:solidFill>
            <a:srgbClr val="A87C1F"/>
          </a:solidFill>
          <a:ln w="12700">
            <a:solidFill>
              <a:srgbClr val="A87C1F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10767060" y="215798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10250424" y="2743200"/>
            <a:ext cx="1472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</a:t>
            </a:r>
            <a:endParaRPr lang="en-US" sz="1350" dirty="0"/>
          </a:p>
        </p:txBody>
      </p:sp>
      <p:sp>
        <p:nvSpPr>
          <p:cNvPr id="38" name="Text 36"/>
          <p:cNvSpPr txBox="1"/>
          <p:nvPr/>
        </p:nvSpPr>
        <p:spPr>
          <a:xfrm>
            <a:off x="10268712" y="3127248"/>
            <a:ext cx="143560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Preferences travel to the next property in the estate, not just the next stay here.</a:t>
            </a:r>
            <a:endParaRPr lang="en-US" sz="1050" dirty="0"/>
          </a:p>
        </p:txBody>
      </p:sp>
      <p:sp>
        <p:nvSpPr>
          <p:cNvPr id="39" name="Text 37"/>
          <p:cNvSpPr txBox="1"/>
          <p:nvPr/>
        </p:nvSpPr>
        <p:spPr>
          <a:xfrm>
            <a:off x="640080" y="4956048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A87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six is the one only a group can offer — and today almost none do.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1097280"/>
            <a:ext cx="3291840" cy="4663440"/>
          </a:xfrm>
          <a:prstGeom prst="roundRect">
            <a:avLst>
              <a:gd name="adj" fmla="val 5556"/>
            </a:avLst>
          </a:prstGeom>
          <a:solidFill>
            <a:srgbClr val="D4A94A">
              <a:alpha val="9000"/>
            </a:srgbClr>
          </a:solidFill>
          <a:ln w="12700">
            <a:solidFill>
              <a:srgbClr val="D4A94A">
                <a:alpha val="20000"/>
              </a:srgbClr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205740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D4A9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971800"/>
            <a:ext cx="7680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4F1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Arrival, digitalized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384048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9AA9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photocopied passports held at property level to a scanned, parsed, signed and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9AA9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centrally retention-managed record — under one policy across the whole estate.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87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DOCUMENTS &amp; SCANNING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0B12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filing cabinet, retired — estate-wide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2112264" cy="2240280"/>
          </a:xfrm>
          <a:prstGeom prst="roundRect">
            <a:avLst>
              <a:gd name="adj" fmla="val 3896"/>
            </a:avLst>
          </a:prstGeom>
          <a:solidFill>
            <a:srgbClr val="F5F7FA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41248" y="2029968"/>
            <a:ext cx="402336" cy="402336"/>
          </a:xfrm>
          <a:prstGeom prst="ellipse">
            <a:avLst/>
          </a:prstGeom>
          <a:solidFill>
            <a:srgbClr val="A87C1F"/>
          </a:solidFill>
          <a:ln w="12700">
            <a:solidFill>
              <a:srgbClr val="A87C1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41248" y="20299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841248" y="2542032"/>
            <a:ext cx="17099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841248" y="2889504"/>
            <a:ext cx="17099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Passport, national ID or licence. The guest's own phone works for pre-arrival capture.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894076" y="1828800"/>
            <a:ext cx="2112264" cy="2240280"/>
          </a:xfrm>
          <a:prstGeom prst="roundRect">
            <a:avLst>
              <a:gd name="adj" fmla="val 3896"/>
            </a:avLst>
          </a:prstGeom>
          <a:solidFill>
            <a:srgbClr val="F5F7FA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095244" y="2029968"/>
            <a:ext cx="402336" cy="402336"/>
          </a:xfrm>
          <a:prstGeom prst="ellipse">
            <a:avLst/>
          </a:prstGeom>
          <a:solidFill>
            <a:srgbClr val="A87C1F"/>
          </a:solidFill>
          <a:ln w="12700">
            <a:solidFill>
              <a:srgbClr val="A87C1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095244" y="20299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3095244" y="2542032"/>
            <a:ext cx="17099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Parse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3095244" y="2889504"/>
            <a:ext cx="17099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Machine-readable zone and field OCR extract name, number, nationality and expiry. No typing.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148072" y="1828800"/>
            <a:ext cx="2112264" cy="2240280"/>
          </a:xfrm>
          <a:prstGeom prst="roundRect">
            <a:avLst>
              <a:gd name="adj" fmla="val 3896"/>
            </a:avLst>
          </a:prstGeom>
          <a:solidFill>
            <a:srgbClr val="F5F7FA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349240" y="2029968"/>
            <a:ext cx="402336" cy="402336"/>
          </a:xfrm>
          <a:prstGeom prst="ellipse">
            <a:avLst/>
          </a:prstGeom>
          <a:solidFill>
            <a:srgbClr val="A87C1F"/>
          </a:solidFill>
          <a:ln w="12700">
            <a:solidFill>
              <a:srgbClr val="A87C1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349240" y="20299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349240" y="2542032"/>
            <a:ext cx="17099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5349240" y="2889504"/>
            <a:ext cx="17099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Registration card pre-filled from the scan, signed on a tablet or the guest's phone.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7402068" y="1828800"/>
            <a:ext cx="2112264" cy="2240280"/>
          </a:xfrm>
          <a:prstGeom prst="roundRect">
            <a:avLst>
              <a:gd name="adj" fmla="val 3896"/>
            </a:avLst>
          </a:prstGeom>
          <a:solidFill>
            <a:srgbClr val="F5F7FA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603236" y="2029968"/>
            <a:ext cx="402336" cy="402336"/>
          </a:xfrm>
          <a:prstGeom prst="ellipse">
            <a:avLst/>
          </a:prstGeom>
          <a:solidFill>
            <a:srgbClr val="A87C1F"/>
          </a:solidFill>
          <a:ln w="12700">
            <a:solidFill>
              <a:srgbClr val="A87C1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603236" y="20299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7603236" y="2542032"/>
            <a:ext cx="17099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Vault</a:t>
            </a:r>
            <a:endParaRPr lang="en-US" sz="1450" dirty="0"/>
          </a:p>
        </p:txBody>
      </p:sp>
      <p:sp>
        <p:nvSpPr>
          <p:cNvPr id="23" name="Text 21"/>
          <p:cNvSpPr txBox="1"/>
          <p:nvPr/>
        </p:nvSpPr>
        <p:spPr>
          <a:xfrm>
            <a:off x="7603236" y="2889504"/>
            <a:ext cx="17099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Encrypted storage under a separate key. Every read logged with actor, time and reason.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9656064" y="1828800"/>
            <a:ext cx="2112264" cy="2240280"/>
          </a:xfrm>
          <a:prstGeom prst="roundRect">
            <a:avLst>
              <a:gd name="adj" fmla="val 3896"/>
            </a:avLst>
          </a:prstGeom>
          <a:solidFill>
            <a:srgbClr val="F5F7FA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9857232" y="2029968"/>
            <a:ext cx="402336" cy="402336"/>
          </a:xfrm>
          <a:prstGeom prst="ellipse">
            <a:avLst/>
          </a:prstGeom>
          <a:solidFill>
            <a:srgbClr val="A87C1F"/>
          </a:solidFill>
          <a:ln w="12700">
            <a:solidFill>
              <a:srgbClr val="A87C1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857232" y="20299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9857232" y="2542032"/>
            <a:ext cx="17099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Purge</a:t>
            </a:r>
            <a:endParaRPr lang="en-US" sz="1450" dirty="0"/>
          </a:p>
        </p:txBody>
      </p:sp>
      <p:sp>
        <p:nvSpPr>
          <p:cNvPr id="28" name="Text 26"/>
          <p:cNvSpPr txBox="1"/>
          <p:nvPr/>
        </p:nvSpPr>
        <p:spPr>
          <a:xfrm>
            <a:off x="9857232" y="2889504"/>
            <a:ext cx="17099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retention policy, set by the group, enforced per property, with a provable deletion trail.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40080" y="4315968"/>
            <a:ext cx="10911535" cy="1051560"/>
          </a:xfrm>
          <a:prstGeom prst="roundRect">
            <a:avLst>
              <a:gd name="adj" fmla="val 7826"/>
            </a:avLst>
          </a:prstGeom>
          <a:solidFill>
            <a:srgbClr val="0B1220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30" name="Text 28"/>
          <p:cNvSpPr txBox="1"/>
          <p:nvPr/>
        </p:nvSpPr>
        <p:spPr>
          <a:xfrm>
            <a:off x="960120" y="449884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the vault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960120" y="4800600"/>
            <a:ext cx="102714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Folios and invoices · signed contracts and banquet event orders · incident reports · supplier documents · the statutory guest register, exportable per jurisdiction for police and immigration filing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87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GUEST PROFILE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0B12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guest, remembered across the estate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5486400" cy="3566160"/>
          </a:xfrm>
          <a:prstGeom prst="roundRect">
            <a:avLst>
              <a:gd name="adj" fmla="val 2308"/>
            </a:avLst>
          </a:prstGeom>
          <a:solidFill>
            <a:srgbClr val="F5F7FA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1005840" y="1938528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property record holds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377440"/>
            <a:ext cx="47548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Preferences captured once — floor, bed, pillow, newspaper, language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Allergies and dietary restrictions, which reach the kitchen ticket as a hard warning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 across every outlet, not just room revenue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history: what was asked for, how fast it was delivered, what went wrong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consent ledger recording what was agreed, when, and which version of the text was shown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492240" y="1691640"/>
            <a:ext cx="5059375" cy="3566160"/>
          </a:xfrm>
          <a:prstGeom prst="roundRect">
            <a:avLst>
              <a:gd name="adj" fmla="val 2308"/>
            </a:avLst>
          </a:prstGeom>
          <a:solidFill>
            <a:srgbClr val="0B1220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858000" y="1938528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changes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858000" y="2377440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Loyalty gets substance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858000" y="2642616"/>
            <a:ext cx="4297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AA9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programme knows the stays. This adds what they ate, asked for and cared about.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6858000" y="3090672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allergy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858000" y="3355848"/>
            <a:ext cx="4297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AA9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Flagged at the kitchen, not remembered by a waiter who is off shift tomorrow.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6858000" y="3803904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Portability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6858000" y="4069080"/>
            <a:ext cx="4297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AA9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preference set in one property is honoured at the next one in the estate.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6858000" y="4517136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6858000" y="4782312"/>
            <a:ext cx="4297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AA9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service failure is visible to the next property before the guest has to repeat it.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87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RESERVATIONS &amp; ANCILLARY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0B12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Rooms are yours. The rest has no system.</a:t>
            </a:r>
            <a:endParaRPr lang="en-US" sz="33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572768"/>
            <a:ext cx="9875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58"/>
              </a:lnSpc>
              <a:buNone/>
            </a:pPr>
            <a:r>
              <a:rPr lang="en-US" sz="13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do not compete with central reservations for room inventory. We take the reservation as an input, and we run the demand your enterprise stack was never built to handle.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240280"/>
            <a:ext cx="5257800" cy="2971800"/>
          </a:xfrm>
          <a:prstGeom prst="roundRect">
            <a:avLst>
              <a:gd name="adj" fmla="val 2769"/>
            </a:avLst>
          </a:prstGeom>
          <a:solidFill>
            <a:srgbClr val="F5F7FA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987552" y="2487168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Rooms — yours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987552" y="2944368"/>
            <a:ext cx="461772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reservations remains the system of record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consume the confirmed reservation, and return the stay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booking engine available where a property needs its own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Pre-arrival upsell layered on any reservation, whatever its channel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263640" y="2240280"/>
            <a:ext cx="5287975" cy="2971800"/>
          </a:xfrm>
          <a:prstGeom prst="roundRect">
            <a:avLst>
              <a:gd name="adj" fmla="val 2769"/>
            </a:avLst>
          </a:prstGeom>
          <a:solidFill>
            <a:srgbClr val="FBF6E9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6611112" y="2487168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else — ours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6611112" y="2944368"/>
            <a:ext cx="461772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Restaurant tables, by service and by section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 treatments and therapist availability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Gym classes, courts, equipment and pool cabanas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 and meeting rooms, with banquet event orders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Tours, transfers and airport pickup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40080" y="5394960"/>
            <a:ext cx="10911535" cy="749808"/>
          </a:xfrm>
          <a:prstGeom prst="roundRect">
            <a:avLst>
              <a:gd name="adj" fmla="val 10976"/>
            </a:avLst>
          </a:prstGeom>
          <a:solidFill>
            <a:srgbClr val="0B1220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960120" y="5394960"/>
            <a:ext cx="1027145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capacity engine serves every resource — a table, a therapist, a boardroom and a shuttle seat are the same problem, solved once and deployed estate-wide.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87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PAYMENTS &amp; FOLIO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0B12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charge, one folio</a:t>
            </a:r>
            <a:endParaRPr lang="en-US" sz="33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5727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58"/>
              </a:lnSpc>
              <a:buNone/>
            </a:pPr>
            <a:r>
              <a:rPr lang="en-US" sz="13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Bar, restaurant, spa, minibar, laundry, the television — every outlet posts through one interface, and the folio reconciles to the property management system you already run.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286000"/>
            <a:ext cx="1709928" cy="566928"/>
          </a:xfrm>
          <a:prstGeom prst="roundRect">
            <a:avLst>
              <a:gd name="adj" fmla="val 14516"/>
            </a:avLst>
          </a:prstGeom>
          <a:solidFill>
            <a:srgbClr val="FFFFFF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694944" y="2286000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Restaurant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495044" y="2852928"/>
            <a:ext cx="0" cy="237744"/>
          </a:xfrm>
          <a:prstGeom prst="line">
            <a:avLst/>
          </a:prstGeom>
          <a:noFill/>
          <a:ln w="19050">
            <a:solidFill>
              <a:srgbClr val="A87C1F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2468880" y="2286000"/>
            <a:ext cx="1709928" cy="566928"/>
          </a:xfrm>
          <a:prstGeom prst="roundRect">
            <a:avLst>
              <a:gd name="adj" fmla="val 14516"/>
            </a:avLst>
          </a:prstGeom>
          <a:solidFill>
            <a:srgbClr val="FFFFFF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2523744" y="2286000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323844" y="2852928"/>
            <a:ext cx="0" cy="237744"/>
          </a:xfrm>
          <a:prstGeom prst="line">
            <a:avLst/>
          </a:prstGeom>
          <a:noFill/>
          <a:ln w="19050">
            <a:solidFill>
              <a:srgbClr val="A87C1F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4297680" y="2286000"/>
            <a:ext cx="1709928" cy="566928"/>
          </a:xfrm>
          <a:prstGeom prst="roundRect">
            <a:avLst>
              <a:gd name="adj" fmla="val 14516"/>
            </a:avLst>
          </a:prstGeom>
          <a:solidFill>
            <a:srgbClr val="FFFFFF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4352544" y="2286000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In-room dining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152644" y="2852928"/>
            <a:ext cx="0" cy="237744"/>
          </a:xfrm>
          <a:prstGeom prst="line">
            <a:avLst/>
          </a:prstGeom>
          <a:noFill/>
          <a:ln w="19050">
            <a:solidFill>
              <a:srgbClr val="A87C1F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6126480" y="2286000"/>
            <a:ext cx="1709928" cy="566928"/>
          </a:xfrm>
          <a:prstGeom prst="roundRect">
            <a:avLst>
              <a:gd name="adj" fmla="val 14516"/>
            </a:avLst>
          </a:prstGeom>
          <a:solidFill>
            <a:srgbClr val="FFFFFF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6181344" y="2286000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 &amp; facilities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981444" y="2852928"/>
            <a:ext cx="0" cy="237744"/>
          </a:xfrm>
          <a:prstGeom prst="line">
            <a:avLst/>
          </a:prstGeom>
          <a:noFill/>
          <a:ln w="19050">
            <a:solidFill>
              <a:srgbClr val="A87C1F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7955280" y="2286000"/>
            <a:ext cx="1709928" cy="566928"/>
          </a:xfrm>
          <a:prstGeom prst="roundRect">
            <a:avLst>
              <a:gd name="adj" fmla="val 14516"/>
            </a:avLst>
          </a:prstGeom>
          <a:solidFill>
            <a:srgbClr val="FFFFFF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8010144" y="2286000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Entertainment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810244" y="2852928"/>
            <a:ext cx="0" cy="237744"/>
          </a:xfrm>
          <a:prstGeom prst="line">
            <a:avLst/>
          </a:prstGeom>
          <a:noFill/>
          <a:ln w="19050">
            <a:solidFill>
              <a:srgbClr val="A87C1F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9784080" y="2286000"/>
            <a:ext cx="1709928" cy="566928"/>
          </a:xfrm>
          <a:prstGeom prst="roundRect">
            <a:avLst>
              <a:gd name="adj" fmla="val 14516"/>
            </a:avLst>
          </a:prstGeom>
          <a:solidFill>
            <a:srgbClr val="FFFFFF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9838944" y="2286000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Minibar &amp; laundry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10639044" y="2852928"/>
            <a:ext cx="0" cy="237744"/>
          </a:xfrm>
          <a:prstGeom prst="line">
            <a:avLst/>
          </a:prstGeom>
          <a:noFill/>
          <a:ln w="19050">
            <a:solidFill>
              <a:srgbClr val="A87C1F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640080" y="3127248"/>
            <a:ext cx="10911535" cy="713232"/>
          </a:xfrm>
          <a:prstGeom prst="roundRect">
            <a:avLst>
              <a:gd name="adj" fmla="val 12821"/>
            </a:avLst>
          </a:prstGeom>
          <a:solidFill>
            <a:srgbClr val="0B1220"/>
          </a:solidFill>
          <a:ln w="12700">
            <a:solidFill>
              <a:srgbClr val="0B1220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640080" y="3127248"/>
            <a:ext cx="1091153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20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GUEST FOLIO   →   POSTED TO YOUR PMS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640080" y="4069080"/>
            <a:ext cx="2670048" cy="1298448"/>
          </a:xfrm>
          <a:prstGeom prst="roundRect">
            <a:avLst>
              <a:gd name="adj" fmla="val 6338"/>
            </a:avLst>
          </a:prstGeom>
          <a:solidFill>
            <a:srgbClr val="F5F7FA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859536" y="4242816"/>
            <a:ext cx="223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Settlement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859536" y="4553712"/>
            <a:ext cx="223113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Card, digital wallet, bank transfer and cash — reconciled in one ledger, per property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3593592" y="4069080"/>
            <a:ext cx="2670048" cy="1298448"/>
          </a:xfrm>
          <a:prstGeom prst="roundRect">
            <a:avLst>
              <a:gd name="adj" fmla="val 6338"/>
            </a:avLst>
          </a:prstGeom>
          <a:solidFill>
            <a:srgbClr val="F5F7FA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3813048" y="4242816"/>
            <a:ext cx="223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 on file</a:t>
            </a:r>
            <a:endParaRPr lang="en-US" sz="1250" dirty="0"/>
          </a:p>
        </p:txBody>
      </p:sp>
      <p:sp>
        <p:nvSpPr>
          <p:cNvPr id="30" name="Text 28"/>
          <p:cNvSpPr txBox="1"/>
          <p:nvPr/>
        </p:nvSpPr>
        <p:spPr>
          <a:xfrm>
            <a:off x="3813048" y="4553712"/>
            <a:ext cx="223113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Tokenised for pre-authorisation, incidentals and no-show charges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6547104" y="4069080"/>
            <a:ext cx="2670048" cy="1298448"/>
          </a:xfrm>
          <a:prstGeom prst="roundRect">
            <a:avLst>
              <a:gd name="adj" fmla="val 6338"/>
            </a:avLst>
          </a:prstGeom>
          <a:solidFill>
            <a:srgbClr val="F5F7FA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32" name="Text 30"/>
          <p:cNvSpPr txBox="1"/>
          <p:nvPr/>
        </p:nvSpPr>
        <p:spPr>
          <a:xfrm>
            <a:off x="6766560" y="4242816"/>
            <a:ext cx="223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Flexible billing</a:t>
            </a:r>
            <a:endParaRPr lang="en-US" sz="1250" dirty="0"/>
          </a:p>
        </p:txBody>
      </p:sp>
      <p:sp>
        <p:nvSpPr>
          <p:cNvPr id="33" name="Text 31"/>
          <p:cNvSpPr txBox="1"/>
          <p:nvPr/>
        </p:nvSpPr>
        <p:spPr>
          <a:xfrm>
            <a:off x="6766560" y="4553712"/>
            <a:ext cx="223113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 by guest, item or company; city ledger for corporate and group accounts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9500616" y="4069080"/>
            <a:ext cx="2670048" cy="1298448"/>
          </a:xfrm>
          <a:prstGeom prst="roundRect">
            <a:avLst>
              <a:gd name="adj" fmla="val 6338"/>
            </a:avLst>
          </a:prstGeom>
          <a:solidFill>
            <a:srgbClr val="F5F7FA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35" name="Text 33"/>
          <p:cNvSpPr txBox="1"/>
          <p:nvPr/>
        </p:nvSpPr>
        <p:spPr>
          <a:xfrm>
            <a:off x="9720072" y="4242816"/>
            <a:ext cx="223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PCI scope</a:t>
            </a:r>
            <a:endParaRPr lang="en-US" sz="1250" dirty="0"/>
          </a:p>
        </p:txBody>
      </p:sp>
      <p:sp>
        <p:nvSpPr>
          <p:cNvPr id="36" name="Text 34"/>
          <p:cNvSpPr txBox="1"/>
          <p:nvPr/>
        </p:nvSpPr>
        <p:spPr>
          <a:xfrm>
            <a:off x="9720072" y="4553712"/>
            <a:ext cx="223113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 data goes device to acquirer. We hold a token, never a card number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87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FOOD &amp; BEVERAGE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0B12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ways to order. One kitchen.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2670048" cy="1965960"/>
          </a:xfrm>
          <a:prstGeom prst="roundRect">
            <a:avLst>
              <a:gd name="adj" fmla="val 4186"/>
            </a:avLst>
          </a:prstGeom>
          <a:solidFill>
            <a:srgbClr val="F5F7FA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59536" y="1847088"/>
            <a:ext cx="402336" cy="402336"/>
          </a:xfrm>
          <a:prstGeom prst="ellipse">
            <a:avLst/>
          </a:prstGeom>
          <a:solidFill>
            <a:srgbClr val="A87C1F"/>
          </a:solidFill>
          <a:ln w="12700">
            <a:solidFill>
              <a:srgbClr val="A87C1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59536" y="18470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859536" y="2359152"/>
            <a:ext cx="223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the table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859536" y="2688336"/>
            <a:ext cx="223113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on a tablet, or the guest scans the code and orders without waiting.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593592" y="1645920"/>
            <a:ext cx="2670048" cy="1965960"/>
          </a:xfrm>
          <a:prstGeom prst="roundRect">
            <a:avLst>
              <a:gd name="adj" fmla="val 4186"/>
            </a:avLst>
          </a:prstGeom>
          <a:solidFill>
            <a:srgbClr val="F5F7FA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813048" y="1847088"/>
            <a:ext cx="402336" cy="402336"/>
          </a:xfrm>
          <a:prstGeom prst="ellipse">
            <a:avLst/>
          </a:prstGeom>
          <a:solidFill>
            <a:srgbClr val="A87C1F"/>
          </a:solidFill>
          <a:ln w="12700">
            <a:solidFill>
              <a:srgbClr val="A87C1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813048" y="18470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3813048" y="2359152"/>
            <a:ext cx="223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the bar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3813048" y="2688336"/>
            <a:ext cx="223113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Tabs that follow the guest and close to the room, not to a card at the till.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547104" y="1645920"/>
            <a:ext cx="2670048" cy="1965960"/>
          </a:xfrm>
          <a:prstGeom prst="roundRect">
            <a:avLst>
              <a:gd name="adj" fmla="val 4186"/>
            </a:avLst>
          </a:prstGeom>
          <a:solidFill>
            <a:srgbClr val="F5F7FA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766560" y="1847088"/>
            <a:ext cx="402336" cy="402336"/>
          </a:xfrm>
          <a:prstGeom prst="ellipse">
            <a:avLst/>
          </a:prstGeom>
          <a:solidFill>
            <a:srgbClr val="A87C1F"/>
          </a:solidFill>
          <a:ln w="12700">
            <a:solidFill>
              <a:srgbClr val="A87C1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766560" y="18470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766560" y="2359152"/>
            <a:ext cx="223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the room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6766560" y="2688336"/>
            <a:ext cx="223113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In-room dining on the television or the phone, posted to the folio automatically.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9500616" y="1645920"/>
            <a:ext cx="2670048" cy="1965960"/>
          </a:xfrm>
          <a:prstGeom prst="roundRect">
            <a:avLst>
              <a:gd name="adj" fmla="val 4186"/>
            </a:avLst>
          </a:prstGeom>
          <a:solidFill>
            <a:srgbClr val="F5F7FA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9720072" y="1847088"/>
            <a:ext cx="402336" cy="402336"/>
          </a:xfrm>
          <a:prstGeom prst="ellipse">
            <a:avLst/>
          </a:prstGeom>
          <a:solidFill>
            <a:srgbClr val="A87C1F"/>
          </a:solidFill>
          <a:ln w="12700">
            <a:solidFill>
              <a:srgbClr val="A87C1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720072" y="18470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9720072" y="2359152"/>
            <a:ext cx="223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Anywhere on site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9720072" y="2688336"/>
            <a:ext cx="223113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Poolside, lobby, terrace. The code carries the location; the order knows where to go.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40080" y="3840480"/>
            <a:ext cx="10911535" cy="1481328"/>
          </a:xfrm>
          <a:prstGeom prst="roundRect">
            <a:avLst>
              <a:gd name="adj" fmla="val 5556"/>
            </a:avLst>
          </a:prstGeom>
          <a:solidFill>
            <a:srgbClr val="0B1220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987552" y="40416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Behind all four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987552" y="4407408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Kitchen display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987552" y="4681728"/>
            <a:ext cx="3429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AA9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Tickets routed by prep station, courses fired in order, bar split from kitchen.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4599432" y="4407408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menu control</a:t>
            </a:r>
            <a:endParaRPr lang="en-US" sz="1250" dirty="0"/>
          </a:p>
        </p:txBody>
      </p:sp>
      <p:sp>
        <p:nvSpPr>
          <p:cNvPr id="29" name="Text 27"/>
          <p:cNvSpPr txBox="1"/>
          <p:nvPr/>
        </p:nvSpPr>
        <p:spPr>
          <a:xfrm>
            <a:off x="4599432" y="4681728"/>
            <a:ext cx="3429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AA9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an item once and it clears the television, the codes and the tablets at once.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8211312" y="4407408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Margin, not just revenue</a:t>
            </a:r>
            <a:endParaRPr lang="en-US" sz="1250" dirty="0"/>
          </a:p>
        </p:txBody>
      </p:sp>
      <p:sp>
        <p:nvSpPr>
          <p:cNvPr id="31" name="Text 29"/>
          <p:cNvSpPr txBox="1"/>
          <p:nvPr/>
        </p:nvSpPr>
        <p:spPr>
          <a:xfrm>
            <a:off x="8211312" y="4681728"/>
            <a:ext cx="3429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AA9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Recipe costing and stock depletion roll outlet profitability up to the group.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87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CONCIERGE &amp; SERVICE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0B12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request in one queue</a:t>
            </a:r>
            <a:endParaRPr lang="en-US" sz="33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572768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58"/>
              </a:lnSpc>
              <a:buNone/>
            </a:pPr>
            <a:r>
              <a:rPr lang="en-US" sz="13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guest asks by television, by phone, by chat or at the desk. Staff see one list. Head office sees whether the brand standard was met.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5120640" cy="3200400"/>
          </a:xfrm>
          <a:prstGeom prst="roundRect">
            <a:avLst>
              <a:gd name="adj" fmla="val 2571"/>
            </a:avLst>
          </a:prstGeom>
          <a:solidFill>
            <a:srgbClr val="F5F7FA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987552" y="2377440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a request moves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987552" y="2798064"/>
            <a:ext cx="310896" cy="310896"/>
          </a:xfrm>
          <a:prstGeom prst="ellipse">
            <a:avLst/>
          </a:prstGeom>
          <a:solidFill>
            <a:srgbClr val="A87C1F"/>
          </a:solidFill>
          <a:ln w="12700">
            <a:solidFill>
              <a:srgbClr val="A87C1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87552" y="27980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426464" y="2816352"/>
            <a:ext cx="4160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Raised — from any channel, tagged to the stay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987552" y="3282696"/>
            <a:ext cx="310896" cy="310896"/>
          </a:xfrm>
          <a:prstGeom prst="ellipse">
            <a:avLst/>
          </a:prstGeom>
          <a:solidFill>
            <a:srgbClr val="A87C1F"/>
          </a:solidFill>
          <a:ln w="12700">
            <a:solidFill>
              <a:srgbClr val="A87C1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87552" y="32826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426464" y="3300984"/>
            <a:ext cx="4160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Classified — type, priority, target time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987552" y="3767328"/>
            <a:ext cx="310896" cy="310896"/>
          </a:xfrm>
          <a:prstGeom prst="ellipse">
            <a:avLst/>
          </a:prstGeom>
          <a:solidFill>
            <a:srgbClr val="A87C1F"/>
          </a:solidFill>
          <a:ln w="12700">
            <a:solidFill>
              <a:srgbClr val="A87C1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87552" y="3767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426464" y="3785616"/>
            <a:ext cx="4160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Assigned — to a person, not to a department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987552" y="4251960"/>
            <a:ext cx="310896" cy="310896"/>
          </a:xfrm>
          <a:prstGeom prst="ellipse">
            <a:avLst/>
          </a:prstGeom>
          <a:solidFill>
            <a:srgbClr val="A87C1F"/>
          </a:solidFill>
          <a:ln w="12700">
            <a:solidFill>
              <a:srgbClr val="A87C1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87552" y="42519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426464" y="4270248"/>
            <a:ext cx="4160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Clocked — the SLA runs, and escalates if it breaches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987552" y="4736592"/>
            <a:ext cx="310896" cy="310896"/>
          </a:xfrm>
          <a:prstGeom prst="ellipse">
            <a:avLst/>
          </a:prstGeom>
          <a:solidFill>
            <a:srgbClr val="A87C1F"/>
          </a:solidFill>
          <a:ln w="12700">
            <a:solidFill>
              <a:srgbClr val="A87C1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87552" y="47365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426464" y="4754880"/>
            <a:ext cx="4160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 — logged against the guest, the room and the property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126480" y="2148840"/>
            <a:ext cx="5425135" cy="1005840"/>
          </a:xfrm>
          <a:prstGeom prst="roundRect">
            <a:avLst>
              <a:gd name="adj" fmla="val 8182"/>
            </a:avLst>
          </a:prstGeom>
          <a:solidFill>
            <a:srgbClr val="F5F7FA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6455664" y="231343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Housekeeping</a:t>
            </a:r>
            <a:endParaRPr lang="en-US" sz="1350" dirty="0"/>
          </a:p>
        </p:txBody>
      </p:sp>
      <p:sp>
        <p:nvSpPr>
          <p:cNvPr id="24" name="Text 22"/>
          <p:cNvSpPr txBox="1"/>
          <p:nvPr/>
        </p:nvSpPr>
        <p:spPr>
          <a:xfrm>
            <a:off x="6455664" y="262432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Room status, turn-down, linen, inspection and out-of-order rooms on one board.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126480" y="3246120"/>
            <a:ext cx="5425135" cy="1005840"/>
          </a:xfrm>
          <a:prstGeom prst="roundRect">
            <a:avLst>
              <a:gd name="adj" fmla="val 8182"/>
            </a:avLst>
          </a:prstGeom>
          <a:solidFill>
            <a:srgbClr val="F5F7FA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6455664" y="341071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Maintenance</a:t>
            </a:r>
            <a:endParaRPr lang="en-US" sz="1350" dirty="0"/>
          </a:p>
        </p:txBody>
      </p:sp>
      <p:sp>
        <p:nvSpPr>
          <p:cNvPr id="27" name="Text 25"/>
          <p:cNvSpPr txBox="1"/>
          <p:nvPr/>
        </p:nvSpPr>
        <p:spPr>
          <a:xfrm>
            <a:off x="6455664" y="372160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orders with asset history, so a recurring fault becomes visible as a pattern.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126480" y="4343400"/>
            <a:ext cx="5425135" cy="1005840"/>
          </a:xfrm>
          <a:prstGeom prst="roundRect">
            <a:avLst>
              <a:gd name="adj" fmla="val 8182"/>
            </a:avLst>
          </a:prstGeom>
          <a:solidFill>
            <a:srgbClr val="FBF6E9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6455664" y="450799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standard reporting</a:t>
            </a:r>
            <a:endParaRPr lang="en-US" sz="1350" dirty="0"/>
          </a:p>
        </p:txBody>
      </p:sp>
      <p:sp>
        <p:nvSpPr>
          <p:cNvPr id="30" name="Text 28"/>
          <p:cNvSpPr txBox="1"/>
          <p:nvPr/>
        </p:nvSpPr>
        <p:spPr>
          <a:xfrm>
            <a:off x="6455664" y="481888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 attainment per property, comparable across the estate, without a manual audit.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1097280"/>
            <a:ext cx="3291840" cy="4663440"/>
          </a:xfrm>
          <a:prstGeom prst="roundRect">
            <a:avLst>
              <a:gd name="adj" fmla="val 5556"/>
            </a:avLst>
          </a:prstGeom>
          <a:solidFill>
            <a:srgbClr val="3FB6A8">
              <a:alpha val="9000"/>
            </a:srgbClr>
          </a:solidFill>
          <a:ln w="12700">
            <a:solidFill>
              <a:srgbClr val="3FB6A8">
                <a:alpha val="20000"/>
              </a:srgbClr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205740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D4A9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971800"/>
            <a:ext cx="7680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4F1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screen in the room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384048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9AA9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highest-dwell-time surface in the room, procured locally in most estates,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9AA9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the least consistent thing a returning guest encounters.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GUEST HUB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F4F1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a television into the hotel itself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6492240" cy="3657600"/>
          </a:xfrm>
          <a:prstGeom prst="roundRect">
            <a:avLst>
              <a:gd name="adj" fmla="val 2500"/>
            </a:avLst>
          </a:prstGeom>
          <a:solidFill>
            <a:srgbClr val="05090F"/>
          </a:solidFill>
          <a:ln w="25400">
            <a:solidFill>
              <a:srgbClr val="27354F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960120" y="193852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4F1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Good evening, Ms Reyes</a:t>
            </a:r>
            <a:endParaRPr lang="en-US" sz="210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233172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9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Room 812  ·  2 nights remaining  ·  Gold member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715000" y="1956816"/>
            <a:ext cx="1097280" cy="365760"/>
          </a:xfrm>
          <a:prstGeom prst="roundRect">
            <a:avLst>
              <a:gd name="adj" fmla="val 50000"/>
            </a:avLst>
          </a:prstGeom>
          <a:solidFill>
            <a:srgbClr val="D4A94A"/>
          </a:solidFill>
          <a:ln w="12700">
            <a:solidFill>
              <a:srgbClr val="D4A94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715000" y="1956816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messages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960120" y="2743200"/>
            <a:ext cx="1901952" cy="1051560"/>
          </a:xfrm>
          <a:prstGeom prst="roundRect">
            <a:avLst>
              <a:gd name="adj" fmla="val 6957"/>
            </a:avLst>
          </a:prstGeom>
          <a:solidFill>
            <a:srgbClr val="1E2E4A"/>
          </a:solidFill>
          <a:ln w="19050">
            <a:solidFill>
              <a:srgbClr val="D4A94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143000" y="2962656"/>
            <a:ext cx="15361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143000" y="3291840"/>
            <a:ext cx="1536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9AA9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TV, films and series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3008376" y="2743200"/>
            <a:ext cx="1901952" cy="1051560"/>
          </a:xfrm>
          <a:prstGeom prst="roundRect">
            <a:avLst>
              <a:gd name="adj" fmla="val 6957"/>
            </a:avLst>
          </a:prstGeom>
          <a:solidFill>
            <a:srgbClr val="121C2E"/>
          </a:solidFill>
          <a:ln w="12700">
            <a:solidFill>
              <a:srgbClr val="1E2A4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191256" y="2962656"/>
            <a:ext cx="15361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3191256" y="3291840"/>
            <a:ext cx="1536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9AA9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Dining, in-room, bar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056632" y="2743200"/>
            <a:ext cx="1901952" cy="1051560"/>
          </a:xfrm>
          <a:prstGeom prst="roundRect">
            <a:avLst>
              <a:gd name="adj" fmla="val 6957"/>
            </a:avLst>
          </a:prstGeom>
          <a:solidFill>
            <a:srgbClr val="121C2E"/>
          </a:solidFill>
          <a:ln w="12700">
            <a:solidFill>
              <a:srgbClr val="1E2A4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239512" y="2962656"/>
            <a:ext cx="15361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5239512" y="3291840"/>
            <a:ext cx="1536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9AA9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Spa, tables, tours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960120" y="3959352"/>
            <a:ext cx="1901952" cy="1051560"/>
          </a:xfrm>
          <a:prstGeom prst="roundRect">
            <a:avLst>
              <a:gd name="adj" fmla="val 6957"/>
            </a:avLst>
          </a:prstGeom>
          <a:solidFill>
            <a:srgbClr val="121C2E"/>
          </a:solidFill>
          <a:ln w="12700">
            <a:solidFill>
              <a:srgbClr val="1E2A4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143000" y="4178808"/>
            <a:ext cx="15361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1143000" y="4507992"/>
            <a:ext cx="1536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9AA9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Concierge and housekeeping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3008376" y="3959352"/>
            <a:ext cx="1901952" cy="1051560"/>
          </a:xfrm>
          <a:prstGeom prst="roundRect">
            <a:avLst>
              <a:gd name="adj" fmla="val 6957"/>
            </a:avLst>
          </a:prstGeom>
          <a:solidFill>
            <a:srgbClr val="121C2E"/>
          </a:solidFill>
          <a:ln w="12700">
            <a:solidFill>
              <a:srgbClr val="1E2A4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191256" y="4178808"/>
            <a:ext cx="15361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Hotel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3191256" y="4507992"/>
            <a:ext cx="1536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9AA9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Services and wayfinding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5056632" y="3959352"/>
            <a:ext cx="1901952" cy="1051560"/>
          </a:xfrm>
          <a:prstGeom prst="roundRect">
            <a:avLst>
              <a:gd name="adj" fmla="val 6957"/>
            </a:avLst>
          </a:prstGeom>
          <a:solidFill>
            <a:srgbClr val="121C2E"/>
          </a:solidFill>
          <a:ln w="12700">
            <a:solidFill>
              <a:srgbClr val="1E2A4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239512" y="4178808"/>
            <a:ext cx="15361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5239512" y="4507992"/>
            <a:ext cx="1536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9AA9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Folio and express checkout</a:t>
            </a:r>
            <a:endParaRPr lang="en-US" sz="950" dirty="0"/>
          </a:p>
        </p:txBody>
      </p:sp>
      <p:sp>
        <p:nvSpPr>
          <p:cNvPr id="27" name="Text 25"/>
          <p:cNvSpPr txBox="1"/>
          <p:nvPr/>
        </p:nvSpPr>
        <p:spPr>
          <a:xfrm>
            <a:off x="7498080" y="1737360"/>
            <a:ext cx="4160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 on arrival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7498080" y="2011680"/>
            <a:ext cx="4206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AA9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Name, nights remaining and loyalty tier — drawn from the same record the front desk reads.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7498080" y="2670048"/>
            <a:ext cx="4160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Identical in every property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7498080" y="2944368"/>
            <a:ext cx="4206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AA9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application, one interface, one brand standard, whatever is on the wall.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7498080" y="3602736"/>
            <a:ext cx="4160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Revenue, not just cost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7498080" y="3877056"/>
            <a:ext cx="4206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AA9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remote reaches room service, the spa and the bar. The screen begins to earn.</a:t>
            </a:r>
            <a:endParaRPr lang="en-US" sz="1050" dirty="0"/>
          </a:p>
        </p:txBody>
      </p:sp>
      <p:sp>
        <p:nvSpPr>
          <p:cNvPr id="33" name="Text 31"/>
          <p:cNvSpPr txBox="1"/>
          <p:nvPr/>
        </p:nvSpPr>
        <p:spPr>
          <a:xfrm>
            <a:off x="7498080" y="4535424"/>
            <a:ext cx="4160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Reset between guests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7498080" y="4809744"/>
            <a:ext cx="4206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AA9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Profile, cast pairings, history and cached logins cleared automatically on turnover.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 AT ESTATE SCALE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F4F1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box behind the television</a:t>
            </a:r>
            <a:endParaRPr lang="en-US" sz="3300" dirty="0"/>
          </a:p>
        </p:txBody>
      </p:sp>
      <p:sp>
        <p:nvSpPr>
          <p:cNvPr id="4" name="Text 2"/>
          <p:cNvSpPr txBox="1"/>
          <p:nvPr/>
        </p:nvSpPr>
        <p:spPr>
          <a:xfrm>
            <a:off x="4434840" y="132588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9AA9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Traditional hotel TV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183880" y="132588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Orpheus Hospitality Suite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" y="1737360"/>
            <a:ext cx="10911535" cy="621792"/>
          </a:xfrm>
          <a:prstGeom prst="roundRect">
            <a:avLst>
              <a:gd name="adj" fmla="val 8824"/>
            </a:avLst>
          </a:prstGeom>
          <a:solidFill>
            <a:srgbClr val="16223A"/>
          </a:solidFill>
          <a:ln w="12700">
            <a:solidFill>
              <a:srgbClr val="27354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14400" y="1737360"/>
            <a:ext cx="3383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 per room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4434840" y="1737360"/>
            <a:ext cx="36118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A9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set-top box, a power supply, an HDMI lead, a mount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737360"/>
            <a:ext cx="31546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Nothing. The application runs on the television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40080" y="2450592"/>
            <a:ext cx="10911535" cy="621792"/>
          </a:xfrm>
          <a:prstGeom prst="roundRect">
            <a:avLst>
              <a:gd name="adj" fmla="val 8824"/>
            </a:avLst>
          </a:prstGeom>
          <a:solidFill>
            <a:srgbClr val="101A2C"/>
          </a:solidFill>
          <a:ln w="12700">
            <a:solidFill>
              <a:srgbClr val="273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14400" y="2450592"/>
            <a:ext cx="3383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per property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434840" y="2450592"/>
            <a:ext cx="36118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A9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room cabled and provisioned individually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2450592"/>
            <a:ext cx="31546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firmware profile, cloned across the estate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40080" y="3163824"/>
            <a:ext cx="10911535" cy="621792"/>
          </a:xfrm>
          <a:prstGeom prst="roundRect">
            <a:avLst>
              <a:gd name="adj" fmla="val 8824"/>
            </a:avLst>
          </a:prstGeom>
          <a:solidFill>
            <a:srgbClr val="16223A"/>
          </a:solidFill>
          <a:ln w="12700">
            <a:solidFill>
              <a:srgbClr val="27354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3163824"/>
            <a:ext cx="3383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 points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4434840" y="3163824"/>
            <a:ext cx="36118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A9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Box, power supply and cable — all guest-accessible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8183880" y="3163824"/>
            <a:ext cx="31546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television, already under warranty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40080" y="3877056"/>
            <a:ext cx="10911535" cy="621792"/>
          </a:xfrm>
          <a:prstGeom prst="roundRect">
            <a:avLst>
              <a:gd name="adj" fmla="val 8824"/>
            </a:avLst>
          </a:prstGeom>
          <a:solidFill>
            <a:srgbClr val="101A2C"/>
          </a:solidFill>
          <a:ln w="12700">
            <a:solidFill>
              <a:srgbClr val="27354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14400" y="3877056"/>
            <a:ext cx="3383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Guest input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4434840" y="3877056"/>
            <a:ext cx="36118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A9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second remote, and a lesson in which one to use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8183880" y="3877056"/>
            <a:ext cx="31546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remote that came with the television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640080" y="4590288"/>
            <a:ext cx="10911535" cy="621792"/>
          </a:xfrm>
          <a:prstGeom prst="roundRect">
            <a:avLst>
              <a:gd name="adj" fmla="val 8824"/>
            </a:avLst>
          </a:prstGeom>
          <a:solidFill>
            <a:srgbClr val="16223A"/>
          </a:solidFill>
          <a:ln w="12700">
            <a:solidFill>
              <a:srgbClr val="27354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14400" y="4590288"/>
            <a:ext cx="3383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Refresh cycle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4434840" y="4590288"/>
            <a:ext cx="36118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A9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Boxes age and are replaced on their own cycle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8183880" y="4590288"/>
            <a:ext cx="31546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television capex plan you already have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640080" y="6291072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A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Requires hospitality-model televisions, which permit managed installation and lockdown. Existing consumer estates run the same application on a small device until refresh.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87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PLATFORM-NEUTRAL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0B12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Whatever is already on the wall</a:t>
            </a:r>
            <a:endParaRPr lang="en-US" sz="33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572768"/>
            <a:ext cx="10424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85"/>
              </a:lnSpc>
              <a:buNone/>
            </a:pPr>
            <a:r>
              <a:rPr lang="en-US" sz="130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backend, thin clients. Personalisation, ordering and billing all sit server-side; the television renders and takes input. That is what lets a mixed estate converge on one guest experience without a single-vendor hardware commitment.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670048" cy="1965960"/>
          </a:xfrm>
          <a:prstGeom prst="roundRect">
            <a:avLst>
              <a:gd name="adj" fmla="val 4186"/>
            </a:avLst>
          </a:prstGeom>
          <a:solidFill>
            <a:srgbClr val="FBF6E9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877824" y="2542032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12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TCL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877824" y="29077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87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TV / Android TV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877824" y="3255264"/>
            <a:ext cx="21945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Android TV application, managed install across the estate.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593592" y="2331720"/>
            <a:ext cx="2670048" cy="1965960"/>
          </a:xfrm>
          <a:prstGeom prst="roundRect">
            <a:avLst>
              <a:gd name="adj" fmla="val 4186"/>
            </a:avLst>
          </a:prstGeom>
          <a:solidFill>
            <a:srgbClr val="F5F7FA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3831336" y="2542032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12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Samsung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3831336" y="29077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87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Tizen hospitality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3831336" y="3255264"/>
            <a:ext cx="21945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HTML5 application on Samsung's hospitality stack.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547104" y="2331720"/>
            <a:ext cx="2670048" cy="1965960"/>
          </a:xfrm>
          <a:prstGeom prst="roundRect">
            <a:avLst>
              <a:gd name="adj" fmla="val 4186"/>
            </a:avLst>
          </a:prstGeom>
          <a:solidFill>
            <a:srgbClr val="F5F7FA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6784848" y="2542032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12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LG</a:t>
            </a:r>
            <a:endParaRPr lang="en-US" sz="1900" dirty="0"/>
          </a:p>
        </p:txBody>
      </p:sp>
      <p:sp>
        <p:nvSpPr>
          <p:cNvPr id="15" name="Text 13"/>
          <p:cNvSpPr txBox="1"/>
          <p:nvPr/>
        </p:nvSpPr>
        <p:spPr>
          <a:xfrm>
            <a:off x="6784848" y="29077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87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webOS hospitality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784848" y="3255264"/>
            <a:ext cx="21945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HTML5 application on LG's Pro:Centric stack.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9500616" y="2331720"/>
            <a:ext cx="2670048" cy="1965960"/>
          </a:xfrm>
          <a:prstGeom prst="roundRect">
            <a:avLst>
              <a:gd name="adj" fmla="val 4186"/>
            </a:avLst>
          </a:prstGeom>
          <a:solidFill>
            <a:srgbClr val="F5F7FA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9738360" y="2542032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12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Mixed / legacy</a:t>
            </a:r>
            <a:endParaRPr lang="en-US" sz="1900" dirty="0"/>
          </a:p>
        </p:txBody>
      </p:sp>
      <p:sp>
        <p:nvSpPr>
          <p:cNvPr id="19" name="Text 17"/>
          <p:cNvSpPr txBox="1"/>
          <p:nvPr/>
        </p:nvSpPr>
        <p:spPr>
          <a:xfrm>
            <a:off x="9738360" y="29077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87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brand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9738360" y="3255264"/>
            <a:ext cx="21945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application on a small device, until the televisions refresh.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40080" y="4526280"/>
            <a:ext cx="10911535" cy="914400"/>
          </a:xfrm>
          <a:prstGeom prst="roundRect">
            <a:avLst>
              <a:gd name="adj" fmla="val 9000"/>
            </a:avLst>
          </a:prstGeom>
          <a:solidFill>
            <a:srgbClr val="0B1220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960120" y="46634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we quote, we survey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960120" y="4956048"/>
            <a:ext cx="1027145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Television models per property, and whether they are hospitality SKUs · per-room network to each set · VLAN separation of guest and device traffic · multicast, where live television is carried over IP</a:t>
            </a:r>
            <a:endParaRPr lang="en-US" sz="11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CONTENT LAYER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F4F1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Entertainment, powered by Orpheus Nations</a:t>
            </a:r>
            <a:endParaRPr lang="en-US" sz="33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27632"/>
            <a:ext cx="10058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85"/>
              </a:lnSpc>
              <a:buNone/>
            </a:pPr>
            <a:r>
              <a:rPr lang="en-US" sz="1300" dirty="0">
                <a:solidFill>
                  <a:srgbClr val="9AA9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property negotiates with a distributor, assembles a library, or maintains a player. The entertainment layer is licensed centrally as part of the platform and deployed identically across the estate.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2423160"/>
            <a:ext cx="2670048" cy="2011680"/>
          </a:xfrm>
          <a:prstGeom prst="roundRect">
            <a:avLst>
              <a:gd name="adj" fmla="val 4091"/>
            </a:avLst>
          </a:prstGeom>
          <a:solidFill>
            <a:srgbClr val="16223A"/>
          </a:solidFill>
          <a:ln w="12700">
            <a:solidFill>
              <a:srgbClr val="27354F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633472"/>
            <a:ext cx="402336" cy="402336"/>
          </a:xfrm>
          <a:prstGeom prst="ellipse">
            <a:avLst/>
          </a:prstGeom>
          <a:solidFill>
            <a:srgbClr val="D4A94A"/>
          </a:solidFill>
          <a:ln w="12700">
            <a:solidFill>
              <a:srgbClr val="D4A94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77824" y="26334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877824" y="3145536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curated catalogue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77824" y="3675888"/>
            <a:ext cx="21945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AA9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On-demand entertainment presented inside your interface, not a third party's.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593592" y="2423160"/>
            <a:ext cx="2670048" cy="2011680"/>
          </a:xfrm>
          <a:prstGeom prst="roundRect">
            <a:avLst>
              <a:gd name="adj" fmla="val 4091"/>
            </a:avLst>
          </a:prstGeom>
          <a:solidFill>
            <a:srgbClr val="16223A"/>
          </a:solidFill>
          <a:ln w="12700">
            <a:solidFill>
              <a:srgbClr val="27354F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831336" y="2633472"/>
            <a:ext cx="402336" cy="402336"/>
          </a:xfrm>
          <a:prstGeom prst="ellipse">
            <a:avLst/>
          </a:prstGeom>
          <a:solidFill>
            <a:srgbClr val="D4A94A"/>
          </a:solidFill>
          <a:ln w="12700">
            <a:solidFill>
              <a:srgbClr val="D4A94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831336" y="26334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3831336" y="3145536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television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3831336" y="3675888"/>
            <a:ext cx="21945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AA9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and international channels with a proper programme guide, over the room network.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547104" y="2423160"/>
            <a:ext cx="2670048" cy="2011680"/>
          </a:xfrm>
          <a:prstGeom prst="roundRect">
            <a:avLst>
              <a:gd name="adj" fmla="val 4091"/>
            </a:avLst>
          </a:prstGeom>
          <a:solidFill>
            <a:srgbClr val="16223A"/>
          </a:solidFill>
          <a:ln w="12700">
            <a:solidFill>
              <a:srgbClr val="27354F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3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784848" y="2633472"/>
            <a:ext cx="402336" cy="402336"/>
          </a:xfrm>
          <a:prstGeom prst="ellipse">
            <a:avLst/>
          </a:prstGeom>
          <a:solidFill>
            <a:srgbClr val="D4A94A"/>
          </a:solidFill>
          <a:ln w="12700">
            <a:solidFill>
              <a:srgbClr val="D4A94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784848" y="26334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6784848" y="3145536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guest's own services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6784848" y="3675888"/>
            <a:ext cx="21945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AA9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Casting and mirroring from their phone, so their subscriptions travel with them.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9500616" y="2423160"/>
            <a:ext cx="2670048" cy="2011680"/>
          </a:xfrm>
          <a:prstGeom prst="roundRect">
            <a:avLst>
              <a:gd name="adj" fmla="val 4091"/>
            </a:avLst>
          </a:prstGeom>
          <a:solidFill>
            <a:srgbClr val="16223A"/>
          </a:solidFill>
          <a:ln w="12700">
            <a:solidFill>
              <a:srgbClr val="27354F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3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9738360" y="2633472"/>
            <a:ext cx="402336" cy="402336"/>
          </a:xfrm>
          <a:prstGeom prst="ellipse">
            <a:avLst/>
          </a:prstGeom>
          <a:solidFill>
            <a:srgbClr val="D4A94A"/>
          </a:solidFill>
          <a:ln w="12700">
            <a:solidFill>
              <a:srgbClr val="D4A94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738360" y="26334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9738360" y="3145536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channels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9738360" y="3675888"/>
            <a:ext cx="21945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AA9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Property information, dining, spa, events and promotion, alongside the entertainment.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640080" y="4617720"/>
            <a:ext cx="10911535" cy="777240"/>
          </a:xfrm>
          <a:prstGeom prst="roundRect">
            <a:avLst>
              <a:gd name="adj" fmla="val 10588"/>
            </a:avLst>
          </a:prstGeom>
          <a:solidFill>
            <a:srgbClr val="1A2438"/>
          </a:solidFill>
          <a:ln w="12700">
            <a:solidFill>
              <a:srgbClr val="27354F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35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960120" y="4617720"/>
            <a:ext cx="102714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entertainment is why the guest picks up the remote. Everything else in this deck is why the operator is glad they did.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87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GETS WHAT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0B12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Owner and operator want different things</a:t>
            </a:r>
            <a:endParaRPr lang="en-US" sz="33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572768"/>
            <a:ext cx="9601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58"/>
              </a:lnSpc>
              <a:buNone/>
            </a:pPr>
            <a:r>
              <a:rPr lang="en-US" sz="13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branded estate the party funding the capital expenditure and the party setting the standard are rarely the same. The platform has to answer to both.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212848"/>
            <a:ext cx="5440680" cy="3200400"/>
          </a:xfrm>
          <a:prstGeom prst="roundRect">
            <a:avLst>
              <a:gd name="adj" fmla="val 2571"/>
            </a:avLst>
          </a:prstGeom>
          <a:solidFill>
            <a:srgbClr val="FBF6E9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1005840" y="2432304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B12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owner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27797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A87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funds it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1005840" y="3154680"/>
            <a:ext cx="470916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Ancillary revenue per occupied room, from a screen that previously earned nothing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vendor contracts consolidated into one line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Set-top hardware removed from the refresh plan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Labour hours returned at the desk, the outlets and night audit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asset that improves on the schedule the televisions are replaced on anyway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83096" y="2212848"/>
            <a:ext cx="5440680" cy="3200400"/>
          </a:xfrm>
          <a:prstGeom prst="roundRect">
            <a:avLst>
              <a:gd name="adj" fmla="val 2571"/>
            </a:avLst>
          </a:prstGeom>
          <a:solidFill>
            <a:srgbClr val="F5F7FA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6848856" y="2432304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B12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operator</a:t>
            </a:r>
            <a:endParaRPr lang="en-US" sz="2100" dirty="0"/>
          </a:p>
        </p:txBody>
      </p:sp>
      <p:sp>
        <p:nvSpPr>
          <p:cNvPr id="11" name="Text 9"/>
          <p:cNvSpPr txBox="1"/>
          <p:nvPr/>
        </p:nvSpPr>
        <p:spPr>
          <a:xfrm>
            <a:off x="6848856" y="27797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A87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sets the standard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6848856" y="3154680"/>
            <a:ext cx="470916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guest experience across every property, not one per procurement decision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SLAs measured continuously rather than by mystery shopper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standard compliance evidenced from operational data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Guest preferences portable between properties in the estate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retention under one policy, enforced everywhere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6291072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managed and franchised properties the split differs — we scope who signs, who pays and who is served, per agreement type.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87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COMMERCIAL CASE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0B12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platform pays for itself</a:t>
            </a:r>
            <a:endParaRPr lang="en-US" sz="33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554480"/>
            <a:ext cx="9875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85"/>
              </a:lnSpc>
              <a:buNone/>
            </a:pPr>
            <a:r>
              <a:rPr lang="en-US" sz="130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effects, each measurable on a property P&amp;L and each multiplying by the number of properties. The chart is a worked model — we rebuild it on the group's real figures before proposal.</a:t>
            </a:r>
            <a:endParaRPr lang="en-US" sz="13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40080" y="2267712"/>
          <a:ext cx="685800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7863840" y="2267712"/>
            <a:ext cx="3687775" cy="3108960"/>
          </a:xfrm>
          <a:prstGeom prst="roundRect">
            <a:avLst>
              <a:gd name="adj" fmla="val 2647"/>
            </a:avLst>
          </a:prstGeom>
          <a:solidFill>
            <a:srgbClr val="0B1220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8183880" y="248716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read this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8183880" y="2834640"/>
            <a:ext cx="33375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9AA9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Bars are relative, not absolute. Ancillary revenue is set to 1.0 and the rest scaled against it.</a:t>
            </a:r>
            <a:endParaRPr lang="en-US" sz="1050" dirty="0"/>
          </a:p>
          <a:p>
            <a:pPr indent="0" marL="0">
              <a:lnSpc>
                <a:spcPts val="1450"/>
              </a:lnSpc>
              <a:buNone/>
            </a:pPr>
            <a:endParaRPr lang="en-US" sz="10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9AA9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middle three bars are cost, not revenue — contracts not renewed, hours not worked, hardware not bought. They are the least visible effects and usually the most certain.</a:t>
            </a:r>
            <a:endParaRPr lang="en-US" sz="1050" dirty="0"/>
          </a:p>
          <a:p>
            <a:pPr indent="0" marL="0">
              <a:lnSpc>
                <a:spcPts val="1450"/>
              </a:lnSpc>
              <a:buNone/>
            </a:pPr>
            <a:endParaRPr lang="en-US" sz="10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9AA9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estate scale the multiplier matters more than the per-property figure: a modest, reliable effect across two hundred properties outweighs an optimistic one across ten.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6291072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Illustrative model only. No client figures have been used. Rebuilt on the group's own outlet revenue, vendor spend, payroll and capex plan at proposal stage.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87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READINESS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0B12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for your vendor review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40080" y="1664208"/>
            <a:ext cx="3429000" cy="1481328"/>
          </a:xfrm>
          <a:prstGeom prst="roundRect">
            <a:avLst>
              <a:gd name="adj" fmla="val 5556"/>
            </a:avLst>
          </a:prstGeom>
          <a:solidFill>
            <a:srgbClr val="F5F7FA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96112" y="1847088"/>
            <a:ext cx="2916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Guest documents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2176272"/>
            <a:ext cx="2916936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scans encrypted under a separately managed key, released only with a reason code, purged on a group-set retention clock.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471416" y="1664208"/>
            <a:ext cx="3429000" cy="1481328"/>
          </a:xfrm>
          <a:prstGeom prst="roundRect">
            <a:avLst>
              <a:gd name="adj" fmla="val 5556"/>
            </a:avLst>
          </a:prstGeom>
          <a:solidFill>
            <a:srgbClr val="F5F7FA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727448" y="1847088"/>
            <a:ext cx="2916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 data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4727448" y="2176272"/>
            <a:ext cx="2916936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touches the platform. Capture device to acquirer; we hold a token. PCI scope stays on the light-touch assessment.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8302752" y="1664208"/>
            <a:ext cx="3429000" cy="1481328"/>
          </a:xfrm>
          <a:prstGeom prst="roundRect">
            <a:avLst>
              <a:gd name="adj" fmla="val 5556"/>
            </a:avLst>
          </a:prstGeom>
          <a:solidFill>
            <a:srgbClr val="F5F7FA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558784" y="1847088"/>
            <a:ext cx="2916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control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8558784" y="2176272"/>
            <a:ext cx="2916936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Role-based and least-privilege, federated to your identity provider. Group sees the estate, property sees itself.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40080" y="3383280"/>
            <a:ext cx="3429000" cy="1481328"/>
          </a:xfrm>
          <a:prstGeom prst="roundRect">
            <a:avLst>
              <a:gd name="adj" fmla="val 5556"/>
            </a:avLst>
          </a:prstGeom>
          <a:solidFill>
            <a:srgbClr val="F5F7FA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896112" y="3566160"/>
            <a:ext cx="2916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trail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896112" y="3895344"/>
            <a:ext cx="2916936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Append-only log of every state change. Every privileged read carries actor, time and reason, exportable for review.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471416" y="3383280"/>
            <a:ext cx="3429000" cy="1481328"/>
          </a:xfrm>
          <a:prstGeom prst="roundRect">
            <a:avLst>
              <a:gd name="adj" fmla="val 5556"/>
            </a:avLst>
          </a:prstGeom>
          <a:solidFill>
            <a:srgbClr val="F5F7FA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4727448" y="3566160"/>
            <a:ext cx="2916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residency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4727448" y="3895344"/>
            <a:ext cx="2916936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Configurable per property and per region — a requirement for any operator across multiple jurisdictions.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8302752" y="3383280"/>
            <a:ext cx="3429000" cy="1481328"/>
          </a:xfrm>
          <a:prstGeom prst="roundRect">
            <a:avLst>
              <a:gd name="adj" fmla="val 5556"/>
            </a:avLst>
          </a:prstGeom>
          <a:solidFill>
            <a:srgbClr val="FBF6E9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8558784" y="3566160"/>
            <a:ext cx="2916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Certification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8558784" y="3895344"/>
            <a:ext cx="2916936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 2 Type II and an independent penetration test are committed deliverables, completed before pilot sign-off.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6291072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Certification is stated as a commitment with a date, not as a credential already held. Any claim to the contrary should be corrected before this deck is presented.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87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ROLLOUT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0B12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Pilot one property. Then the estate.</a:t>
            </a:r>
            <a:endParaRPr lang="en-US" sz="33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57276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58"/>
              </a:lnSpc>
              <a:buNone/>
            </a:pPr>
            <a:r>
              <a:rPr lang="en-US" sz="13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is committed estate-wide before it is proven in a property the group chooses.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21408"/>
            <a:ext cx="10911535" cy="594360"/>
          </a:xfrm>
          <a:prstGeom prst="roundRect">
            <a:avLst>
              <a:gd name="adj" fmla="val 13846"/>
            </a:avLst>
          </a:prstGeom>
          <a:solidFill>
            <a:srgbClr val="FBF6E9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96112" y="2221992"/>
            <a:ext cx="393192" cy="393192"/>
          </a:xfrm>
          <a:prstGeom prst="ellipse">
            <a:avLst/>
          </a:prstGeom>
          <a:solidFill>
            <a:srgbClr val="A87C1F"/>
          </a:solidFill>
          <a:ln w="12700">
            <a:solidFill>
              <a:srgbClr val="A87C1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96112" y="2221992"/>
            <a:ext cx="39319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463040" y="2121408"/>
            <a:ext cx="3017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— survey &amp; foundation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4572000" y="2121408"/>
            <a:ext cx="5623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Television and network survey. Guest record, identity capture and the document vault live in one property.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10287000" y="2121408"/>
            <a:ext cx="1234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A87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1–6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40080" y="2798064"/>
            <a:ext cx="10911535" cy="594360"/>
          </a:xfrm>
          <a:prstGeom prst="roundRect">
            <a:avLst>
              <a:gd name="adj" fmla="val 13846"/>
            </a:avLst>
          </a:prstGeom>
          <a:solidFill>
            <a:srgbClr val="FBF6E9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896112" y="2898648"/>
            <a:ext cx="393192" cy="393192"/>
          </a:xfrm>
          <a:prstGeom prst="ellipse">
            <a:avLst/>
          </a:prstGeom>
          <a:solidFill>
            <a:srgbClr val="A87C1F"/>
          </a:solidFill>
          <a:ln w="12700">
            <a:solidFill>
              <a:srgbClr val="A87C1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96112" y="2898648"/>
            <a:ext cx="39319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1463040" y="2798064"/>
            <a:ext cx="3017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— money &amp; the room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4572000" y="2798064"/>
            <a:ext cx="5623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Payments, folio, one outlet, and the guest television application. The full guest journey, one site.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10287000" y="2798064"/>
            <a:ext cx="1234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A87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7–16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0080" y="3474720"/>
            <a:ext cx="10911535" cy="594360"/>
          </a:xfrm>
          <a:prstGeom prst="roundRect">
            <a:avLst>
              <a:gd name="adj" fmla="val 13846"/>
            </a:avLst>
          </a:prstGeom>
          <a:solidFill>
            <a:srgbClr val="FBF6E9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896112" y="3575304"/>
            <a:ext cx="393192" cy="393192"/>
          </a:xfrm>
          <a:prstGeom prst="ellipse">
            <a:avLst/>
          </a:prstGeom>
          <a:solidFill>
            <a:srgbClr val="A87C1F"/>
          </a:solidFill>
          <a:ln w="12700">
            <a:solidFill>
              <a:srgbClr val="A87C1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96112" y="3575304"/>
            <a:ext cx="39319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463040" y="3474720"/>
            <a:ext cx="3017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— measure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4572000" y="3474720"/>
            <a:ext cx="5623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Ancillary revenue, SLA attainment and labour effect measured against the property's own baseline.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10287000" y="3474720"/>
            <a:ext cx="1234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A87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17–20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40080" y="4151376"/>
            <a:ext cx="10911535" cy="594360"/>
          </a:xfrm>
          <a:prstGeom prst="roundRect">
            <a:avLst>
              <a:gd name="adj" fmla="val 13846"/>
            </a:avLst>
          </a:prstGeom>
          <a:solidFill>
            <a:srgbClr val="F5F7FA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896112" y="4251960"/>
            <a:ext cx="393192" cy="393192"/>
          </a:xfrm>
          <a:prstGeom prst="ellipse">
            <a:avLst/>
          </a:prstGeom>
          <a:solidFill>
            <a:srgbClr val="A87C1F"/>
          </a:solidFill>
          <a:ln w="12700">
            <a:solidFill>
              <a:srgbClr val="A87C1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96112" y="4251960"/>
            <a:ext cx="39319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1463040" y="4151376"/>
            <a:ext cx="3017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4572000" y="4151376"/>
            <a:ext cx="5623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to five properties, deliberately mixed — different TV estates, different PMS versions, different markets.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10287000" y="4151376"/>
            <a:ext cx="1234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A87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Months 6–10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40080" y="4828032"/>
            <a:ext cx="10911535" cy="594360"/>
          </a:xfrm>
          <a:prstGeom prst="roundRect">
            <a:avLst>
              <a:gd name="adj" fmla="val 13846"/>
            </a:avLst>
          </a:prstGeom>
          <a:solidFill>
            <a:srgbClr val="F5F7FA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896112" y="4928616"/>
            <a:ext cx="393192" cy="393192"/>
          </a:xfrm>
          <a:prstGeom prst="ellipse">
            <a:avLst/>
          </a:prstGeom>
          <a:solidFill>
            <a:srgbClr val="A87C1F"/>
          </a:solidFill>
          <a:ln w="12700">
            <a:solidFill>
              <a:srgbClr val="A87C1F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96112" y="4928616"/>
            <a:ext cx="39319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1463040" y="4828032"/>
            <a:ext cx="3017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Estate</a:t>
            </a:r>
            <a:endParaRPr lang="en-US" sz="1250" dirty="0"/>
          </a:p>
        </p:txBody>
      </p:sp>
      <p:sp>
        <p:nvSpPr>
          <p:cNvPr id="33" name="Text 31"/>
          <p:cNvSpPr txBox="1"/>
          <p:nvPr/>
        </p:nvSpPr>
        <p:spPr>
          <a:xfrm>
            <a:off x="4572000" y="4828032"/>
            <a:ext cx="5623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Standardised deployment runbook, regional teams, phased against the television refresh plan.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10287000" y="4828032"/>
            <a:ext cx="1234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A87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 11+</a:t>
            </a:r>
            <a:endParaRPr lang="en-US" sz="1050" dirty="0"/>
          </a:p>
        </p:txBody>
      </p:sp>
      <p:sp>
        <p:nvSpPr>
          <p:cNvPr id="35" name="Text 33"/>
          <p:cNvSpPr txBox="1"/>
          <p:nvPr/>
        </p:nvSpPr>
        <p:spPr>
          <a:xfrm>
            <a:off x="640080" y="562356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A87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exists so the estate decision is made on measured results, not on this presentation.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1080000">
            <a:off x="8138160" y="-822960"/>
            <a:ext cx="2926080" cy="5486400"/>
          </a:xfrm>
          <a:prstGeom prst="roundRect">
            <a:avLst>
              <a:gd name="adj" fmla="val 6250"/>
            </a:avLst>
          </a:prstGeom>
          <a:solidFill>
            <a:srgbClr val="D4A94A">
              <a:alpha val="9000"/>
            </a:srgbClr>
          </a:solidFill>
          <a:ln w="12700">
            <a:solidFill>
              <a:srgbClr val="D4A94A">
                <a:alpha val="20000"/>
              </a:srgbClr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100584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417320"/>
            <a:ext cx="67665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3400" b="1" dirty="0">
                <a:solidFill>
                  <a:srgbClr val="F4F1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pilot property,</a:t>
            </a:r>
            <a:endParaRPr lang="en-US" sz="34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3400" b="1" dirty="0">
                <a:solidFill>
                  <a:srgbClr val="F4F1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chosen by you,</a:t>
            </a:r>
            <a:endParaRPr lang="en-US" sz="34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3400" b="1" dirty="0">
                <a:solidFill>
                  <a:srgbClr val="F4F1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measured against</a:t>
            </a:r>
            <a:endParaRPr lang="en-US" sz="34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3400" b="1" dirty="0">
                <a:solidFill>
                  <a:srgbClr val="F4F1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its own baseline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640080" y="3657600"/>
            <a:ext cx="384048" cy="384048"/>
          </a:xfrm>
          <a:prstGeom prst="ellipse">
            <a:avLst/>
          </a:prstGeom>
          <a:solidFill>
            <a:srgbClr val="D4A94A"/>
          </a:solidFill>
          <a:ln w="12700">
            <a:solidFill>
              <a:srgbClr val="D4A94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3657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207008" y="363931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b="1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Systems and vendor audit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4343400" y="3639312"/>
            <a:ext cx="3611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AA9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each property runs today, what it costs the group, and what the platform consolidates.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40080" y="4407408"/>
            <a:ext cx="384048" cy="384048"/>
          </a:xfrm>
          <a:prstGeom prst="ellipse">
            <a:avLst/>
          </a:prstGeom>
          <a:solidFill>
            <a:srgbClr val="D4A94A"/>
          </a:solidFill>
          <a:ln w="12700">
            <a:solidFill>
              <a:srgbClr val="D4A94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44074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1207008" y="438912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b="1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scoping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4343400" y="4389120"/>
            <a:ext cx="3611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AA9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PMS, loyalty platform and identity provider — interfaces agreed and documented, not assumed.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40080" y="5157216"/>
            <a:ext cx="384048" cy="384048"/>
          </a:xfrm>
          <a:prstGeom prst="ellipse">
            <a:avLst/>
          </a:prstGeom>
          <a:solidFill>
            <a:srgbClr val="D4A94A"/>
          </a:solidFill>
          <a:ln w="12700">
            <a:solidFill>
              <a:srgbClr val="D4A94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0080" y="51572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207008" y="5138928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b="1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proposal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343400" y="5138928"/>
            <a:ext cx="3611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AA9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Commercial model rebuilt on your figures, with a measurement gate before any estate commitment.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0080" y="6035040"/>
            <a:ext cx="10881360" cy="0"/>
          </a:xfrm>
          <a:prstGeom prst="line">
            <a:avLst/>
          </a:prstGeom>
          <a:noFill/>
          <a:ln w="12700">
            <a:solidFill>
              <a:srgbClr val="27354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4008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9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Orpheus Hospitality Suite  ·  one guest record, every property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Orpheus Hospitality Suite</dc:title>
  <dc:subject>PptxGenJS Presentation</dc:subject>
  <dc:creator>Orpheus Hospitality Suite</dc:creator>
  <cp:lastModifiedBy>Orpheus Hospitality Suite</cp:lastModifiedBy>
  <cp:revision>1</cp:revision>
  <dcterms:created xsi:type="dcterms:W3CDTF">2026-09-01T02:30:45Z</dcterms:created>
  <dcterms:modified xsi:type="dcterms:W3CDTF">2026-09-01T02:30:45Z</dcterms:modified>
</cp:coreProperties>
</file>