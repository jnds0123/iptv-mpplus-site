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effect per property</c:v>
                </c:pt>
              </c:strCache>
            </c:strRef>
          </c:tx>
          <c:spPr>
            <a:solidFill>
              <a:srgbClr val="A87C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Ancillary revenue
(dining, spa and tours from the TV)</c:v>
                  </c:pt>
                  <c:pt idx="1">
                    <c:v>Vendor contracts consolidated
(TV, POS, concierge tooling)</c:v>
                  </c:pt>
                  <c:pt idx="2">
                    <c:v>Labour hours returned
(desk, outlets, night audit)</c:v>
                  </c:pt>
                  <c:pt idx="3">
                    <c:v>Set-top hardware avoided
(at TV refresh)</c:v>
                  </c:pt>
                  <c:pt idx="4">
                    <c:v>Direct booking
(where the property runs its own)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0.54</c:v>
                </c:pt>
                <c:pt idx="2">
                  <c:v>0.47</c:v>
                </c:pt>
                <c:pt idx="3">
                  <c:v>0.33</c:v>
                </c:pt>
                <c:pt idx="4">
                  <c:v>0.29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A68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8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 is a group owner or operator, not an independent. Establish in the first minute that we are not proposing to replace the enterprise core — we are proposing to own the layer between that core and the guest, which today is a patchwork of property-level vendors.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framing that earns the meeting: we are not competing with the enterprise stack, we are fixing the layer beneath it. Ask how many TV vendors and POS systems the estate carries — the number is usually higher than head office expects.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not fabricated percentages. At proposal stage this slide becomes the group's real vendor count and spend, which is far more persuasive than a benchmark and is a number head office often cannot produce on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 operator the word that matters is 'converges'. Every year of local procurement pushes the estate further apart; this is the first layer that pulls it back together without touching the enterprise 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the group's IT function will test you on. The honest position — scoped per vendor, agreed before pilot, no generic connector — is what separates a credible integration story from a slideware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mixed estate the module-by-module point matters: a managed property with a strong incumbent POS can take everything except ordering, and still share the guest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step six hard. Preference portability across the estate is a genuine group advantage that independents structurally cannot match, and most groups fail to deliver it below the loyalty tier.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 For a group, the interesting word is 'centrally' — document risk currently sits with each property and is invisible to head office.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Per-jurisdiction register export is the detail that matters to a cross-border operator — the obligation differs by market and is currently met manually, differently, in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'Loyalty gets substance' is the line for the operator: the enterprise programme knows transactions, not preferences. This feeds it the texture it has never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Conceding room inventory to the CRS is what makes the rest of the pitch credible. A vendor who claims to replace central reservations is shown the door; a vendor who claims the ancillary layer is filling a real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Tokenisation keeps the property on the light-touch PCI self-assessment. For a group with a hundred properties that is a hundred audits made cheaper, which is a procurement argument as much as a technical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Outlet margin rolling up to the group is the F&amp;B point head office cares about — most estates can see outlet revenue and cannot see outlet profitability without a manual exercise.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 standard reporting is the operator's hook. Today SLA attainment is measured by mystery shopper and self-report; this measures it continuously as a by-product of doing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into the entertainment story. The framing for a group is consistency, not novelty.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checkout reset before IT asks — every group has been burned by a guest finding the previous occupant's signed-in streaming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Raise the Android-SKU caveat yourself. For an owner it lands as a capex-timing question, not an objection: the platform aligns to the television refresh cycle already in the plan, and Android hospitality sets are the cheapest end of that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Committing to Android is a strength, not a limitation — say it that way. One codebase instead of four, one MDM enrolment, and hardware the group can buy in any market. The cost is honest and on the slide: a Samsung or LG estate needs a small Android device until refresh, so establish early which sets a given property actually 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— replace these four cards with the real Orpheus Nations catalogue, channel line-up and licensed territories before this deck goes to a client. Content specifics were not available when the deck was drafted.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early in the meeting which side of this slide the room sits on. A deck that pitches operator benefits to an owner, or capex savings to a brand team, loses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caveat out loud. For an enterprise buyer, offering to rebuild the model on their numbers during the systems audit is the ask that converts this meeting into a second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exact here. Enterprise procurement will ask for the SOC 2 report; promising it on a date is credible, implying it exists is a deal-ending discovery. Update this slide the moment the audit completes.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3 is the credibility move. Volunteering a measurement gate before estate commitment is what an enterprise buyer expects and what most vendors avoid offering.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audit and the integration scoping, not on the product. Both are low-commitment yeses, and both produce the facts every later conversation depends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7863840" y="-1005840"/>
            <a:ext cx="2926080" cy="5669280"/>
          </a:xfrm>
          <a:prstGeom prst="roundRect">
            <a:avLst>
              <a:gd name="adj" fmla="val 6250"/>
            </a:avLst>
          </a:prstGeom>
          <a:solidFill>
            <a:srgbClr val="D4A94A">
              <a:alpha val="10000"/>
            </a:srgbClr>
          </a:solidFill>
          <a:ln w="12700">
            <a:solidFill>
              <a:srgbClr val="D4A94A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080000">
            <a:off x="9509760" y="365760"/>
            <a:ext cx="2743200" cy="5852160"/>
          </a:xfrm>
          <a:prstGeom prst="roundRect">
            <a:avLst>
              <a:gd name="adj" fmla="val 6667"/>
            </a:avLst>
          </a:prstGeom>
          <a:solidFill>
            <a:srgbClr val="3FB6A8">
              <a:alpha val="8000"/>
            </a:srgbClr>
          </a:solidFill>
          <a:ln w="12700">
            <a:solidFill>
              <a:srgbClr val="3FB6A8">
                <a:alpha val="18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HOTEL OWNERS AND OPERATORS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Orpheus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Hospitality Suite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22192"/>
            <a:ext cx="6903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property-level guest experience layer — in-room entertainment, dining, concierge, facility booking, payments and digital documents — running on one guest record and plugged into the enterprise systems you already own.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53218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53218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Android app. No set-top box.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840480" y="53218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40480" y="53218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Orpheus Nations.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is solved. The last mile is not.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reservations, the property management system and the loyalty programme are enterprise-grade and estate-wide. Below them, the systems the guest actually touches were bought property by property, from whoever was local.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5257800" cy="3246120"/>
          </a:xfrm>
          <a:prstGeom prst="roundRect">
            <a:avLst>
              <a:gd name="adj" fmla="val 2535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87552" y="2578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ESTATE-WIDE, ENTERPRISE, YOURS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303580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2735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inventory, one rate strategy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6576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management system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89534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Opera-class, standardised across the estate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427939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loyalty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51713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programme, one member identity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4901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finance and reporting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to the group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63640" y="2331720"/>
            <a:ext cx="5287975" cy="3246120"/>
          </a:xfrm>
          <a:prstGeom prst="roundRect">
            <a:avLst>
              <a:gd name="adj" fmla="val 2535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611112" y="25786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BY PROPERTY, LOCAL, INCONSISTENT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611112" y="303580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television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611112" y="327355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with the hardware, different vendor per site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611112" y="36576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and bar point of sale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611112" y="389534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two systems, rarely reporting to the group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611112" y="427939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and service requests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611112" y="451713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Radio, paper log, or a spreadsheet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611112" y="490118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identity documents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11112" y="51389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Photocopied, filed, retained indefinitely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 AT ESTATE SCALE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Property fragmentation is paid at the group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96112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site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contracts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TV, POS, concierge and document handling procured locally — renewed locally, audited locally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93592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849624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Uneven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849624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experience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3849624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brand promise delivered differently in every property the guest visits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547104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03136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Partial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803136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ancillary data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803136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outlet, spa and in-room revenue that never rolls up cleanly to the group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500616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756648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Siloed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9756648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risk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756648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documents held at property level, with no estate-wide retention control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 of multi-property estates with locally procured guest-facing systems. Replaced with the group's own vendor inventory at proposal stage.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guest layer. Every property.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is identified once and read by every surface below the enterprise stack — consistently, in every property, whatever the brand standard requires.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480560" y="3310128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4480560" y="34655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RECORD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37764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· preferences · history · consent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Pre-arrival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9738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2044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desk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7774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0080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TV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65810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8116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8116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mobile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53846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008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&amp; bar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89738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044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52044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7774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40080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&amp; folio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65810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8116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28116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reporting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53846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080" y="53492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deployment model, repeated per property — so the estate converges instead of diverging.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sit in your stack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replace central reservations, the property management system, or the loyalty programme. We consume them, and we own the layer they do not reach.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84832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32688" y="22128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 — ENTERPRISE, UNCHANGED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32688" y="2505456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50545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72384" y="2505456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72384" y="250545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management system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212080" y="2505456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12080" y="250545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loyalty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351776" y="2505456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51776" y="250545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finance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491472" y="2505456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250545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/ SSO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737360" y="3035808"/>
            <a:ext cx="0" cy="27432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headEnd type="triangl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0515600" y="3035808"/>
            <a:ext cx="0" cy="27432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headEnd type="triangle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40080" y="306324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&amp; stay sync  ·  folio posting  ·  loyalty accrual  ·  single sign-on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0080" y="338328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32688" y="351129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— THE PROPERTY GUEST LAYER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32688" y="3803904"/>
            <a:ext cx="124358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9264" y="3803904"/>
            <a:ext cx="1170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documents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253996" y="3803904"/>
            <a:ext cx="124358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290572" y="3803904"/>
            <a:ext cx="1170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575304" y="3803904"/>
            <a:ext cx="124358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11880" y="3803904"/>
            <a:ext cx="1170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96612" y="3803904"/>
            <a:ext cx="124358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33188" y="3803904"/>
            <a:ext cx="1170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folio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217920" y="3803904"/>
            <a:ext cx="124358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54496" y="3803904"/>
            <a:ext cx="1170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F&amp;B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539228" y="3803904"/>
            <a:ext cx="124358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575804" y="3803904"/>
            <a:ext cx="1170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service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860536" y="3803904"/>
            <a:ext cx="124358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97112" y="3803904"/>
            <a:ext cx="1170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TV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181844" y="3803904"/>
            <a:ext cx="124358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218420" y="3803904"/>
            <a:ext cx="1170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analytics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737360" y="4654296"/>
            <a:ext cx="0" cy="256032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6099048" y="4654296"/>
            <a:ext cx="0" cy="256032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10515600" y="4654296"/>
            <a:ext cx="0" cy="256032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640080" y="498348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932688" y="50932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2926080" y="5074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TV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151376" y="5074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mobile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5376672" y="5074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on site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6601968" y="5074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desk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7827264" y="5074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display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052560" y="5074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10277856" y="5074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view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2926080" y="54681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guest-facing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0" y="546811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staff-facing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is scoped per PMS and per loyalty platform. We do not promise a generic connector — the interface is agreed before the pilot.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modules, one platform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429000" cy="1170432"/>
          </a:xfrm>
          <a:prstGeom prst="roundRect">
            <a:avLst>
              <a:gd name="adj" fmla="val 703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10512"/>
            <a:ext cx="420624" cy="420624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Documents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1031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Scanning, OCR, e-signature, secure vault, statutory guest register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71416" y="1572768"/>
            <a:ext cx="3429000" cy="1170432"/>
          </a:xfrm>
          <a:prstGeom prst="roundRect">
            <a:avLst>
              <a:gd name="adj" fmla="val 703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810512"/>
            <a:ext cx="420624" cy="420624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09160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248656" y="179222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Profile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248656" y="21031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Preferences, allergies, stay and spend history, consent ledger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02752" y="1572768"/>
            <a:ext cx="3429000" cy="1170432"/>
          </a:xfrm>
          <a:prstGeom prst="roundRect">
            <a:avLst>
              <a:gd name="adj" fmla="val 703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40496" y="1810512"/>
            <a:ext cx="420624" cy="420624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40496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079992" y="179222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079992" y="21031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engine where you need one; pre-arrival upsell on every reservation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2962656"/>
            <a:ext cx="3429000" cy="1170432"/>
          </a:xfrm>
          <a:prstGeom prst="roundRect">
            <a:avLst>
              <a:gd name="adj" fmla="val 703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77824" y="3200400"/>
            <a:ext cx="420624" cy="420624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7824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31821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349300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spa, gym, function rooms, tours, transfers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471416" y="2962656"/>
            <a:ext cx="3429000" cy="1170432"/>
          </a:xfrm>
          <a:prstGeom prst="roundRect">
            <a:avLst>
              <a:gd name="adj" fmla="val 703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3200400"/>
            <a:ext cx="420624" cy="420624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09160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248656" y="31821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Folio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5248656" y="349300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Cards, wallets, room charge, split billing, settlement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302752" y="2962656"/>
            <a:ext cx="3429000" cy="1170432"/>
          </a:xfrm>
          <a:prstGeom prst="roundRect">
            <a:avLst>
              <a:gd name="adj" fmla="val 703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540496" y="3200400"/>
            <a:ext cx="420624" cy="420624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540496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079992" y="31821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79992" y="349300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Restaurant, bar, in-room dining, QR, kitchen display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" y="4352544"/>
            <a:ext cx="3429000" cy="1170432"/>
          </a:xfrm>
          <a:prstGeom prst="roundRect">
            <a:avLst>
              <a:gd name="adj" fmla="val 703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77824" y="4590288"/>
            <a:ext cx="420624" cy="420624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77824" y="4590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417320" y="45720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&amp; Service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417320" y="488289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Requests, SLA ticketing, housekeeping, maintenance, chat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471416" y="4352544"/>
            <a:ext cx="3429000" cy="1170432"/>
          </a:xfrm>
          <a:prstGeom prst="roundRect">
            <a:avLst>
              <a:gd name="adj" fmla="val 703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709160" y="4590288"/>
            <a:ext cx="420624" cy="420624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709160" y="4590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248656" y="45720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5248656" y="488289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TV application, live and on-demand, Orpheus Nations, casting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302752" y="4352544"/>
            <a:ext cx="3429000" cy="1170432"/>
          </a:xfrm>
          <a:prstGeom prst="roundRect">
            <a:avLst>
              <a:gd name="adj" fmla="val 703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540496" y="4590288"/>
            <a:ext cx="420624" cy="420624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540496" y="4590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079992" y="45720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9079992" y="488289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and estate dashboards, RBAC, multi-property, audit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640080" y="57607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as a whole, or module by module against the gaps in a given property — the guest record is shared from the first one.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guest actually experiences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03020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03020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your central reservations, unchanged. We pick the guest up on confirmation.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23160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532888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95828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195828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79192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Pre-arrival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scanned at home, registration card signed, card authorised, upsell offered.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15968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425696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88636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88636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90288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the desk. Key issued, and the television already greets them by name.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08776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318504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81444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81444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64808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6483096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Dinner, the spa, the concierge — from the remote or their own phone.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01584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211312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874252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74252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57616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out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75904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 reviewed on screen, settled, gone. No queue.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994392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104120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767060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767060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250424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0268712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 travel to the next property in the estate, not just the next stay here.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4956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six is the one only a group can offer — and today almost none do.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1097280"/>
            <a:ext cx="3291840" cy="4663440"/>
          </a:xfrm>
          <a:prstGeom prst="roundRect">
            <a:avLst>
              <a:gd name="adj" fmla="val 5556"/>
            </a:avLst>
          </a:prstGeom>
          <a:solidFill>
            <a:srgbClr val="D4A94A">
              <a:alpha val="9000"/>
            </a:srgbClr>
          </a:solidFill>
          <a:ln w="12700">
            <a:solidFill>
              <a:srgbClr val="D4A94A">
                <a:alpha val="2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Arrival, digitalized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photocopied passports held at property level to a scanned, parsed, signed and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centrally retention-managed record — under one policy across the whole estate.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&amp; SCANNING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filing cabinet, retired — estate-wide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Passport, national ID or licence. The guest's own phone works for pre-arrival capture.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94076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95244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95244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095244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095244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Machine-readable zone and field OCR extract name, number, nationality and expiry. No typing.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48072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49240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49240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49240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349240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card pre-filled from the scan, signed on a tablet or the guest's phone.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402068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603236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03236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603236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603236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storage under a separate key. Every read logged with actor, time and reason.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656064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57232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57232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857232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Purge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9857232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retention policy, set by the group, enforced per property, with a provable deletion trail.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315968"/>
            <a:ext cx="10911535" cy="1051560"/>
          </a:xfrm>
          <a:prstGeom prst="roundRect">
            <a:avLst>
              <a:gd name="adj" fmla="val 7826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60120" y="44988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the vault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0120" y="4800600"/>
            <a:ext cx="10271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Folios and invoices · signed contracts and banquet event orders · incident reports · supplier documents · the statutory guest register, exportable per jurisdiction for police and immigration filing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PROFILE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guest, remembered across the estate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486400" cy="3566160"/>
          </a:xfrm>
          <a:prstGeom prst="roundRect">
            <a:avLst>
              <a:gd name="adj" fmla="val 230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19385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property record holds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 captured once — floor, bed, pillow, newspaper, language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Allergies and dietary restrictions, which reach the kitchen ticket as a hard warning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across every outlet, not just room revenue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history: what was asked for, how fast it was delivered, what went wrong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consent ledger recording what was agreed, when, and which version of the text was shown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92240" y="1691640"/>
            <a:ext cx="5059375" cy="3566160"/>
          </a:xfrm>
          <a:prstGeom prst="roundRect">
            <a:avLst>
              <a:gd name="adj" fmla="val 2308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0" y="193852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3774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gets substance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2642616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programme knows the stays. This adds what they ate, asked for and cared about.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309067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allergy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5584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at the kitchen, not remembered by a waiter who is off shift tomorrow.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380390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406908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preference set in one property is honoured at the next one in the estate.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1713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4782312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failure is visible to the next property before the guest has to repeat it.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&amp; ANCILLARY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Rooms are yours. The rest has no system.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compete with central reservations for room inventory. We take the reservation as an input, and we run the demand your enterprise stack was never built to handle.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257800" cy="2971800"/>
          </a:xfrm>
          <a:prstGeom prst="roundRect">
            <a:avLst>
              <a:gd name="adj" fmla="val 2769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87552" y="24871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 — yours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944368"/>
            <a:ext cx="4617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 remains the system of record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consume the confirmed reservation, and return the stay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booking engine available where a property needs its own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Pre-arrival upsell layered on any reservation, whatever its channel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2240280"/>
            <a:ext cx="5287975" cy="2971800"/>
          </a:xfrm>
          <a:prstGeom prst="roundRect">
            <a:avLst>
              <a:gd name="adj" fmla="val 2769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11112" y="24871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— ours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11112" y="2944368"/>
            <a:ext cx="4617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tables, by service and by section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treatments and therapist availability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 classes, courts, equipment and pool cabanas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and meeting rooms, with banquet event orders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Tours, transfers and airport pickup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539496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60120" y="5394960"/>
            <a:ext cx="1027145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capacity engine serves every resource — a table, a therapist, a boardroom and a shuttle seat are the same problem, solved once and deployed estate-wide.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FOLIO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charge, one folio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Bar, restaurant, spa, minibar, laundry, the television — every outlet posts through one interface, and the folio reconciles to the property management system you already run.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949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4950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4688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5237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238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2976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3525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dining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1526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1264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1813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&amp; facilities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814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9552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101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8102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7840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8389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Minibar &amp; laundry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6390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40080" y="3127248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40080" y="312724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FOLIO   →   POSTED TO YOUR PMS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59536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59536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Card, digital wallet, bank transfer and cash — reconciled in one ledger, per property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593592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813048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on file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813048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Tokenised for pre-authorisation, incidentals and no-show charges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547104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766560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billing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766560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by guest, item or company; city ledger for corporate and group accounts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500616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9720072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scope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9720072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data goes device to acquirer. We hold a token, never a card number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&amp; BEVERAGE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order. One kitchen.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table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on a tablet, or the guest scans the code and orders without waiting.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593592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13048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13048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813048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bar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813048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 that follow the guest and close to the room, not to a card at the till.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47104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0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room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dining on the television or the phone, posted to the folio automatically.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500616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720072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20072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720072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on site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720072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Poolside, lobby, terrace. The code carries the location; the order knows where to go.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3840480"/>
            <a:ext cx="10911535" cy="1481328"/>
          </a:xfrm>
          <a:prstGeom prst="roundRect">
            <a:avLst>
              <a:gd name="adj" fmla="val 5556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87552" y="4041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all four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440740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display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468172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routed by prep station, courses fired in order, bar split from kitchen.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99432" y="440740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menu control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4599432" y="468172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an item once and it clears the television, the codes and the tablets at once.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211312" y="440740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Margin, not just revenue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211312" y="468172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 costing and stock depletion roll outlet profitability up to the group.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&amp; SERVICE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request in one queue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guest asks by television, by phone, by chat or at the desk. Staff see one list. Head office sees whether the brand standard was met.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120640" cy="3200400"/>
          </a:xfrm>
          <a:prstGeom prst="roundRect">
            <a:avLst>
              <a:gd name="adj" fmla="val 257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87552" y="237744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request moves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87552" y="2798064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87552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426464" y="281635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— from any channel, tagged to the stay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87552" y="3282696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87552" y="3282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26464" y="330098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— type, priority, target time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87552" y="3767328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7552" y="3767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426464" y="378561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— to a person, not to a department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87552" y="4251960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7552" y="4251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426464" y="427024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Clocked — the SLA runs, and escalates if it breaches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87552" y="4736592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7552" y="4736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26464" y="475488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— logged against the guest, the room and the property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26480" y="2148840"/>
            <a:ext cx="5425135" cy="1005840"/>
          </a:xfrm>
          <a:prstGeom prst="roundRect">
            <a:avLst>
              <a:gd name="adj" fmla="val 8182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455664" y="2313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26243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status, turn-down, linen, inspection and out-of-order rooms on one board.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26480" y="3246120"/>
            <a:ext cx="5425135" cy="1005840"/>
          </a:xfrm>
          <a:prstGeom prst="roundRect">
            <a:avLst>
              <a:gd name="adj" fmla="val 8182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455664" y="3410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455664" y="37216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orders with asset history, so a recurring fault becomes visible as a pattern.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26480" y="4343400"/>
            <a:ext cx="5425135" cy="1005840"/>
          </a:xfrm>
          <a:prstGeom prst="roundRect">
            <a:avLst>
              <a:gd name="adj" fmla="val 8182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455664" y="45079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standard reporting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6455664" y="48188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attainment per property, comparable across the estate, without a manual audit.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1097280"/>
            <a:ext cx="3291840" cy="4663440"/>
          </a:xfrm>
          <a:prstGeom prst="roundRect">
            <a:avLst>
              <a:gd name="adj" fmla="val 5556"/>
            </a:avLst>
          </a:prstGeom>
          <a:solidFill>
            <a:srgbClr val="3FB6A8">
              <a:alpha val="9000"/>
            </a:srgbClr>
          </a:solidFill>
          <a:ln w="12700">
            <a:solidFill>
              <a:srgbClr val="3FB6A8">
                <a:alpha val="2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screen in the room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highest-dwell-time surface in the room, procured locally in most estates,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least consistent thing a returning guest encounters.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HUB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television into the hotel itself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492240" cy="3657600"/>
          </a:xfrm>
          <a:prstGeom prst="roundRect">
            <a:avLst>
              <a:gd name="adj" fmla="val 2500"/>
            </a:avLst>
          </a:prstGeom>
          <a:solidFill>
            <a:srgbClr val="05090F"/>
          </a:solidFill>
          <a:ln w="254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9385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 evening, Ms Reyes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31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812  ·  2 nights remaining  ·  Gold member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715000" y="195681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15000" y="195681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messages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60120" y="2743200"/>
            <a:ext cx="1901952" cy="1051560"/>
          </a:xfrm>
          <a:prstGeom prst="roundRect">
            <a:avLst>
              <a:gd name="adj" fmla="val 6957"/>
            </a:avLst>
          </a:prstGeom>
          <a:solidFill>
            <a:srgbClr val="1E2E4A"/>
          </a:solidFill>
          <a:ln w="19050">
            <a:solidFill>
              <a:srgbClr val="D4A9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2962656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29184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TV, films and series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008376" y="2743200"/>
            <a:ext cx="1901952" cy="1051560"/>
          </a:xfrm>
          <a:prstGeom prst="roundRect">
            <a:avLst>
              <a:gd name="adj" fmla="val 6957"/>
            </a:avLst>
          </a:prstGeom>
          <a:solidFill>
            <a:srgbClr val="121C2E"/>
          </a:solidFill>
          <a:ln w="12700">
            <a:solidFill>
              <a:srgbClr val="1E2A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91256" y="2962656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191256" y="329184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Dining, in-room, bar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56632" y="2743200"/>
            <a:ext cx="1901952" cy="1051560"/>
          </a:xfrm>
          <a:prstGeom prst="roundRect">
            <a:avLst>
              <a:gd name="adj" fmla="val 6957"/>
            </a:avLst>
          </a:prstGeom>
          <a:solidFill>
            <a:srgbClr val="121C2E"/>
          </a:solidFill>
          <a:ln w="12700">
            <a:solidFill>
              <a:srgbClr val="1E2A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39512" y="2962656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39512" y="329184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Spa, tables, tours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60120" y="3959352"/>
            <a:ext cx="1901952" cy="1051560"/>
          </a:xfrm>
          <a:prstGeom prst="roundRect">
            <a:avLst>
              <a:gd name="adj" fmla="val 6957"/>
            </a:avLst>
          </a:prstGeom>
          <a:solidFill>
            <a:srgbClr val="121C2E"/>
          </a:solidFill>
          <a:ln w="12700">
            <a:solidFill>
              <a:srgbClr val="1E2A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43000" y="417880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450799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and housekeeping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008376" y="3959352"/>
            <a:ext cx="1901952" cy="1051560"/>
          </a:xfrm>
          <a:prstGeom prst="roundRect">
            <a:avLst>
              <a:gd name="adj" fmla="val 6957"/>
            </a:avLst>
          </a:prstGeom>
          <a:solidFill>
            <a:srgbClr val="121C2E"/>
          </a:solidFill>
          <a:ln w="12700">
            <a:solidFill>
              <a:srgbClr val="1E2A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91256" y="417880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191256" y="450799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and wayfinding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56632" y="3959352"/>
            <a:ext cx="1901952" cy="1051560"/>
          </a:xfrm>
          <a:prstGeom prst="roundRect">
            <a:avLst>
              <a:gd name="adj" fmla="val 6957"/>
            </a:avLst>
          </a:prstGeom>
          <a:solidFill>
            <a:srgbClr val="121C2E"/>
          </a:solidFill>
          <a:ln w="12700">
            <a:solidFill>
              <a:srgbClr val="1E2A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239512" y="417880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239512" y="450799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 and express checkout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173736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on arrival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0" y="201168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nights remaining and loyalty tier — drawn from the same record the front desk reads.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498080" y="267004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in every property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2944368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Android application, one interface, one brand standard, on every set in the estate.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498080" y="360273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not just cost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3877056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remote reaches room service, the spa and the bar. The screen begins to earn.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7498080" y="453542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between guests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98080" y="4809744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Profile, cast pairings, history and cached logins cleared automatically on turnover.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AT ESTATE SCALE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box behind the television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4434840" y="1325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hotel TV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83880" y="1325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Orpheus Hospitality Suite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737360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per room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1737360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set-top box, a power supply, an HDMI lead, a mount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737360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Nothing. The application runs on the television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450592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01A2C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45059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per property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2450592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room cabled and provisioned individually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245059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firmware profile, cloned across the estate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163824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163824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points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434840" y="3163824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Box, power supply and cable — all guest-accessible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3163824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television, already under warranty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877056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01A2C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3877056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input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434840" y="3877056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remote, and a lesson in which one to use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3877056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remote that came with the television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590288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590288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cycle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434840" y="4590288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age and are replaced on their own cycle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4590288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television capex plan you already have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Android TV or Google TV hospitality models, which permit managed install and lockdown. Tizen and webOS estates run the same app on a small Android device until refresh.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ANDROID, END TO 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Android app. Every screen.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surface in the property runs Android — the television in the room, the tablets on the floor, the handhelds in the corridor, the kiosk in the lobby. One application, one release train, one way to manage a device.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670048" cy="1874520"/>
          </a:xfrm>
          <a:prstGeom prst="roundRect">
            <a:avLst>
              <a:gd name="adj" fmla="val 4390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77824" y="24688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In-room television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3035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TV / Google TV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3467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TCL, Sony, Hisense, Philips and others. The guest app runs on the set — nothing behind it.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593592" y="2286000"/>
            <a:ext cx="2670048" cy="1874520"/>
          </a:xfrm>
          <a:prstGeom prst="roundRect">
            <a:avLst>
              <a:gd name="adj" fmla="val 439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831336" y="24688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tablets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831336" y="3035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31336" y="33467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and bar point of sale, kitchen display, housekeeping and inspection boards.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547104" y="2286000"/>
            <a:ext cx="2670048" cy="1874520"/>
          </a:xfrm>
          <a:prstGeom prst="roundRect">
            <a:avLst>
              <a:gd name="adj" fmla="val 439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784848" y="24688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Handhelds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784848" y="3035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784848" y="33467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and ID capture at the desk or kerbside, order running, maintenance work orders.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500616" y="2286000"/>
            <a:ext cx="2670048" cy="1874520"/>
          </a:xfrm>
          <a:prstGeom prst="roundRect">
            <a:avLst>
              <a:gd name="adj" fmla="val 439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738360" y="24688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Self-service kiosk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738360" y="3035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738360" y="33467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Lobby check-in, document capture and signature, key issue.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343400"/>
            <a:ext cx="10911535" cy="1417320"/>
          </a:xfrm>
          <a:prstGeom prst="roundRect">
            <a:avLst>
              <a:gd name="adj" fmla="val 5806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60120" y="4526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one operating system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82803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 and one release train, not four · one device-management enrolment for the whole estate · commodity hardware the group can source in any market · a single patch and security posture to put in front of your vendor review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4526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quote, we survey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482803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Television models per property, and whether they are Android hospitality SKUs · per-room network to each set · VLAN separation of guest and device traffic · multicast, where live television is carried over IP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Tizen and LG webOS sets are not native Android targets. Those properties run the same application on a small Android device until the televisions refresh.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CONTENT LAYER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Entertainment, powered by Orpheus Nations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property negotiates with a distributor, assembles a library, or maintains a player. The entertainment layer is licensed centrally as part of the platform and deployed identically across the estate.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670048" cy="2011680"/>
          </a:xfrm>
          <a:prstGeom prst="roundRect">
            <a:avLst>
              <a:gd name="adj" fmla="val 4091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633472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1455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catalogue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36758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entertainment presented inside your interface, not a third party's.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93592" y="2423160"/>
            <a:ext cx="2670048" cy="2011680"/>
          </a:xfrm>
          <a:prstGeom prst="roundRect">
            <a:avLst>
              <a:gd name="adj" fmla="val 4091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31336" y="2633472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31336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831336" y="31455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television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31336" y="36758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and international channels with a proper programme guide, over the room network.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47104" y="2423160"/>
            <a:ext cx="2670048" cy="2011680"/>
          </a:xfrm>
          <a:prstGeom prst="roundRect">
            <a:avLst>
              <a:gd name="adj" fmla="val 4091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784848" y="2633472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84848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31455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guest's own services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784848" y="36758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Casting and mirroring from their phone, so their subscriptions travel with them.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500616" y="2423160"/>
            <a:ext cx="2670048" cy="2011680"/>
          </a:xfrm>
          <a:prstGeom prst="roundRect">
            <a:avLst>
              <a:gd name="adj" fmla="val 4091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738360" y="2633472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738360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738360" y="31455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channels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738360" y="36758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information, dining, spa, events and promotion, alongside the entertainment.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61772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A2438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60120" y="461772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entertainment is why the guest picks up the remote. Everything else in this deck is why the operator is glad they did.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GETS WHAT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 and operator want different things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branded estate the party funding the capital expenditure and the party setting the standard are rarely the same. The platform has to answer to both.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5440680" cy="3200400"/>
          </a:xfrm>
          <a:prstGeom prst="roundRect">
            <a:avLst>
              <a:gd name="adj" fmla="val 2571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05840" y="24323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owner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7797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it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154680"/>
            <a:ext cx="4709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Ancillary revenue per occupied room, from a screen that previously earned nothing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vendor contracts consolidated into one line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Set-top hardware removed from the refresh plan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Labour hours returned at the desk, the outlets and night audit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that improves on the schedule the televisions are replaced on anyway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83096" y="2212848"/>
            <a:ext cx="5440680" cy="3200400"/>
          </a:xfrm>
          <a:prstGeom prst="roundRect">
            <a:avLst>
              <a:gd name="adj" fmla="val 257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848856" y="24323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operator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6848856" y="27797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standard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848856" y="3154680"/>
            <a:ext cx="4709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guest experience across every property, not one per procurement decision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SLAs measured continuously rather than by mystery shopper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standard compliance evidenced from operational data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preferences portable between properties in the estate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retention under one policy, enforced everywhere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managed and franchised properties the split differs — we scope who signs, who pays and who is served, per agreement type.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COMMERCIAL CASE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platform pays for itself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effects, each measurable on a property P&amp;L and each multiplying by the number of properties. The chart is a worked model — we rebuild it on the group's real figures before proposal.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267712"/>
          <a:ext cx="6858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63840" y="2267712"/>
            <a:ext cx="3687775" cy="3108960"/>
          </a:xfrm>
          <a:prstGeom prst="roundRect">
            <a:avLst>
              <a:gd name="adj" fmla="val 2647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183880" y="2487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this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2834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are relative, not absolute. Ancillary revenue is set to 1.0 and the rest scaled against it.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three bars are cost, not revenue — contracts not renewed, hours not worked, hardware not bought. They are the least visible effects and usually the most certain.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estate scale the multiplier matters more than the per-property figure: a modest, reliable effect across two hundred properties outweighs an optimistic one across ten.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model only. No client figures have been used. Rebuilt on the group's own outlet revenue, vendor spend, payroll and capex plan at proposal stage.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READINESS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your vendor review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64208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96112" y="184708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documents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176272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scans encrypted under a separately managed key, released only with a reason code, purged on a group-set retention clock.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471416" y="1664208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727448" y="184708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data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727448" y="2176272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touches the platform. Capture device to acquirer; we hold a token. PCI scope stays on the light-touch assessment.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302752" y="1664208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558784" y="184708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558784" y="2176272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and least-privilege, federated to your identity provider. Group sees the estate, property sees itself.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96112" y="3566160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895344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log of every state change. Every privileged read carries actor, time and reason, exportable for review.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71416" y="338328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727448" y="3566160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residency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727448" y="3895344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per property and per region — a requirement for any operator across multiple jurisdictions.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302752" y="338328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558784" y="3566160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558784" y="3895344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II and an independent penetration test are committed deliverables, completed before pilot sign-off.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is stated as a commitment with a date, not as a credential already held. Any claim to the contrary should be corrected before this deck is presented.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one property. Then the estate.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committed estate-wide before it is proven in a property the group chooses.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21408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221992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221992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21408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survey &amp; foundation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121408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Television and network survey. Guest record, identity capture and the document vault live in one property.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0287000" y="212140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1–6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98064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2898648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2898648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2798064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money &amp; the room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798064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Payments, folio, one outlet, and the guest television application. The full guest journey, one site.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0" y="2798064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7–16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474720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3575304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3575304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47472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measure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474720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Ancillary revenue, SLA attainment and labour effect measured against the property's own baseline.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0287000" y="347472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17–20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4151376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96112" y="4251960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6112" y="4251960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151376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151376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 five properties, deliberately mixed — different TV estates, different PMS versions, different markets.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287000" y="4151376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6–10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828032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96112" y="4928616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96112" y="4928616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463040" y="482803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0" y="4828032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Standardised deployment runbook, regional teams, phased against the television refresh plan.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287000" y="4828032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11+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56235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exists so the estate decision is made on measured results, not on this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8138160" y="-822960"/>
            <a:ext cx="2926080" cy="5486400"/>
          </a:xfrm>
          <a:prstGeom prst="roundRect">
            <a:avLst>
              <a:gd name="adj" fmla="val 6250"/>
            </a:avLst>
          </a:prstGeom>
          <a:solidFill>
            <a:srgbClr val="D4A94A">
              <a:alpha val="9000"/>
            </a:srgbClr>
          </a:solidFill>
          <a:ln w="12700">
            <a:solidFill>
              <a:srgbClr val="D4A94A">
                <a:alpha val="2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10058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pilot property,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chosen by you,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against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its own baseline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3657600"/>
            <a:ext cx="384048" cy="38404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363931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and vendor audit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639312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property runs today, what it costs the group, and what the platform consolidates.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4407408"/>
            <a:ext cx="384048" cy="38404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389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scoping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438912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PMS, loyalty platform and identity provider — interfaces agreed and documented, not assumed.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5157216"/>
            <a:ext cx="384048" cy="38404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5157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513892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proposal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513892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model rebuilt on your figures, with a measurement gate before any estate commitment.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6035040"/>
            <a:ext cx="10881360" cy="0"/>
          </a:xfrm>
          <a:prstGeom prst="line">
            <a:avLst/>
          </a:prstGeom>
          <a:noFill/>
          <a:ln w="12700">
            <a:solidFill>
              <a:srgbClr val="27354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Orpheus Hospitality Suite  ·  one guest record, every property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Orpheus Hospitality Suite</dc:title>
  <dc:subject>PptxGenJS Presentation</dc:subject>
  <dc:creator>Orpheus Hospitality Suite</dc:creator>
  <cp:lastModifiedBy>Orpheus Hospitality Suite</cp:lastModifiedBy>
  <cp:revision>1</cp:revision>
  <dcterms:created xsi:type="dcterms:W3CDTF">2026-09-01T03:32:26Z</dcterms:created>
  <dcterms:modified xsi:type="dcterms:W3CDTF">2026-09-01T03:32:26Z</dcterms:modified>
</cp:coreProperties>
</file>