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effect per property</c:v>
                </c:pt>
              </c:strCache>
            </c:strRef>
          </c:tx>
          <c:spPr>
            <a:solidFill>
              <a:srgbClr val="A87C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Ancillary revenue
(dining, spa and tours from the TV)</c:v>
                  </c:pt>
                  <c:pt idx="1">
                    <c:v>Vendor contracts consolidated
(TV, POS, concierge tooling)</c:v>
                  </c:pt>
                  <c:pt idx="2">
                    <c:v>Labour hours returned
(desk, outlets, night audit)</c:v>
                  </c:pt>
                  <c:pt idx="3">
                    <c:v>Set-top hardware avoided
(at TV refresh)</c:v>
                  </c:pt>
                  <c:pt idx="4">
                    <c:v>Direct booking
(where the property runs its own)</c:v>
                  </c:pt>
                  <c:pt idx="5">
                    <c:v>Radio and DECT fleet avoided
(staff handhelds are extensions)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0.54</c:v>
                </c:pt>
                <c:pt idx="2">
                  <c:v>0.47</c:v>
                </c:pt>
                <c:pt idx="3">
                  <c:v>0.33</c:v>
                </c:pt>
                <c:pt idx="4">
                  <c:v>0.29</c:v>
                </c:pt>
                <c:pt idx="5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is a group owner or operator, not an independent. Establish in the first minute that we are not proposing to replace the enterprise core — we are proposing to own the layer between that core and the guest, which today is a patchwork of property-level vendors.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that earns the meeting: we are not competing with the enterprise stack, we are fixing the layer beneath it. Ask how many TV vendors and POS systems the estate carries — the number is usually higher than head office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fabricated percentages. At proposal stage this slide becomes the group's real vendor count and spend, which is far more persuasive than a benchmark and is a number head office often cannot produce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operator the word that matters is 'converges'. Every year of local procurement pushes the estate further apart; this is the first layer that pulls it back together without touching the enterprise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group's IT function will test you on. The honest position — scoped per vendor, agreed before pilot, no generic connector — is what separates a credible integration story from a slideware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 is the newest module and the easiest sell to a property that already runs a PBX: it is the only one that adds a guest-facing device without adding a platform, because the handset registers to the SIP system they already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step six hard. Preference portability across the estate is a genuine group advantage that independents structurally cannot match, and most groups fail to deliver it below the loyalty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For a group, the interesting word is 'centrally' — document risk currently sits with each property and is invisible to head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Per-jurisdiction register export is the detail that matters to a cross-border operator — the obligation differs by market and is currently met manually, differently, in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'Loyalty gets substance' is the line for the operator: the enterprise programme knows transactions, not preferences. This feeds it the texture it has never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Conceding room inventory to the CRS is what makes the rest of the pitch credible. A vendor who claims to replace central reservations is shown the door; a vendor who claims the ancillary layer is filling a real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Tokenisation keeps the property on the light-touch PCI self-assessment. For a group with a hundred properties that is a hundred audits made cheaper, which is a procurement argument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margin rolling up to the group is the F&amp;B point head office cares about — most estates can see outlet revenue and cannot see outlet profitability without a manual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standard reporting is the operator's hook. Today SLA attainment is measured by mystery shopper and self-report; this measures it continuously as a by-product of doing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entertainment story. The framing for a group is consistency,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checkout reset before IT asks — every group has been burned by a guest finding the previous occupant's signed-in streaming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Raise the Android-SKU caveat yourself. For an owner it lands as a capex-timing question, not an objection: the platform aligns to the television refresh cycle already in the plan, and Android hospitality sets are the cheapest end of that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to Android is a strength, not a limitation — say it that way. One codebase instead of four, one MDM enrolment, and hardware the group can buy in any market. The cost is honest and on the slide: a Samsung or LG estate needs a small Android device until refresh, so establish early which sets a given property actually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these four cards with the real Orpheus Nations catalogue, channel line-up and licensed territories before this deck goes to a client. Content specifics were not available when the deck was drafted.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lead with in the room. First, this is the cheapest module to say yes to: the PBX, the handsets and the numbering plan already exist, so the work is integration rather than replacement. Second, emergency calling — direct dial with no prefix, desk notification and a per-room dispatchable location are legal requirements in several markets and are the fastest way to find out whether a property's current telephony is actually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early in the meeting which side of this slide the room sits on. A deck that pitches operator benefits to an owner, or capex savings to a brand team, 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caveat out loud. For an enterprise buyer, offering to rebuild the model on their numbers during the systems audit is the ask that converts this meeting into a second one. If someone asks why call revenue is not a bar: it has been falling for twenty years and pretending otherwise costs you credibility on every other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here. Enterprise procurement will ask for the SOC 2 report; promising it on a date is credible, implying it exists is a deal-ending discovery. Update this slide the moment the audit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is the credibility move. Volunteering a measurement gate before estate commitment is what an enterprise buyer expects and what most vendors avoid offering.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audit and the integration scoping, not on the product. Both are low-commitment yeses, and both produce the facts every later conversation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005840"/>
            <a:ext cx="2926080" cy="5669280"/>
          </a:xfrm>
          <a:prstGeom prst="roundRect">
            <a:avLst>
              <a:gd name="adj" fmla="val 6250"/>
            </a:avLst>
          </a:prstGeom>
          <a:solidFill>
            <a:srgbClr val="D4A94A">
              <a:alpha val="10000"/>
            </a:srgbClr>
          </a:solidFill>
          <a:ln w="12700">
            <a:solidFill>
              <a:srgbClr val="D4A94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080000">
            <a:off x="9509760" y="365760"/>
            <a:ext cx="2743200" cy="5852160"/>
          </a:xfrm>
          <a:prstGeom prst="roundRect">
            <a:avLst>
              <a:gd name="adj" fmla="val 6667"/>
            </a:avLst>
          </a:prstGeom>
          <a:solidFill>
            <a:srgbClr val="3FB6A8">
              <a:alpha val="8000"/>
            </a:srgbClr>
          </a:solidFill>
          <a:ln w="12700">
            <a:solidFill>
              <a:srgbClr val="3FB6A8">
                <a:alpha val="1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HOTEL OWNERS AND OPERATORS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Orpheus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Suite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22192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property-level guest experience layer — in-room entertainment, dining, concierge, facility booking, payments and digital documents — running on one guest record and plugged into the enterprise systems you already 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app. No set-top box.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Orpheus Nations.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is solved. The last mile is not.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reservations, the property management system and the loyalty programme are enterprise-grade and estate-wide. Below them, the systems the guest actually touches were bought property by property, from whoever was local.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ESTATE-WIDE, ENTERPRISE, YOURS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35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73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inventory, one rate strategy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6576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Opera-class, standardised across the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793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programme, one member identity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 and reporting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to the group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331720"/>
            <a:ext cx="5287975" cy="3246120"/>
          </a:xfrm>
          <a:prstGeom prst="roundRect">
            <a:avLst>
              <a:gd name="adj" fmla="val 2535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BY PROPERTY, LOCAL, INCONSISTENT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television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11112" y="32735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the hardware, different vendor per site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895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two systems, rarely reporting to the group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2793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service requests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5171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Radio, paper log, or a spreadsheet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9011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identity documents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138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Photocopied, filed, retained indefinitely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fragmentation is paid at the group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site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contracts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TV, POS, concierge and document handling procured locally — renewed locally, audited locally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93592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9624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Uneven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849624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849624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brand promise delivered differently in every property the guest visits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47104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03136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03136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data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03136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spa and in-room revenue that never rolls up cleanly to the group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0616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56648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56648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risk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documents held at property level, with no estate-wide retention control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of multi-property estates with locally procured guest-facing systems. Replaced with the group's own vendor inventory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guest layer. Every property.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is identified once and read by every surface below the enterprise stack — consistently, in every property, whatever the brand standard requires.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48056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0560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RECORD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76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preferences · history · consent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9738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774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5810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116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3846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bar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9738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2044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7774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folio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5810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8116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reporting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3846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53492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model, repeated per property — so the estate converges instead of diverging.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your stack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replace central reservations, the property management system, or the loyalty programme. We consume them, and we own the layer they do not reach.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— ENTERPRISE, UNCHANGED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9904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PBX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08976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08976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2804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2804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3736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51560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40080" y="306324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stay sync  ·  folio posting  ·  loyalty accrual  ·  call records  ·  single sign-on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38328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32688" y="3511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THE PROPERTY GUEST LAYER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268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docs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96504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7419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997403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06547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2976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3890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06211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7126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folio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9447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0362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126834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5978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service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15919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833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PBX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91549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00693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TV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022390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3305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6099048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51560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32688" y="5093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65176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376367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phone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7558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98749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on site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709940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821131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32322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435133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view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guest-facing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095744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scoped per PMS and per loyalty platform. We do not promise a generic connector — the interface is agreed before the pilot.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modules, one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Documents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Scanning, OCR, e-signature, secure vault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76702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77870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7870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77870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77870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allergies, history,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13325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14493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4493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14493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14493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engine, pre-arrival upsell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49947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51115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51115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51115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spa, function rooms, tours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58657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8773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773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8773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78773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Cards, wallets, room charge, settlement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124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bar, in-room dining, kitchen display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76702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077870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7787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077870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3077870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SLA ticketing, housekeeping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13325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14493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14493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14493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314493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TV app, live and on-demand, casting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49947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551115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51115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551115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551115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SIP phone, wake-ups, call posting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58657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78773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8773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8773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978773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analytics, RBAC, audit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5806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a whole, or module by module against the gaps in a given property — the guest record is shared from the first 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actually experiences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302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central reservations, unchanged. We pick the guest up on confirmation.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95828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95828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scanned at home, registration card signed, card authorised, upsell offered.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5968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25696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88636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88636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desk. Key issued, and the television already greets them by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18504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1444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1444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Dinner, the spa, the concierge — from the remote or their own phone.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01584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11312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74252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74252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reviewed on screen, settled, gone. No queue.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994392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0412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76706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6706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5042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26871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travel to the next property in the estate, not just the next stay here.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956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six is the one only a group can offer — and today almost none do.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Arrival, digitalized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photocopied passports held at property level to a scanned, parsed, signed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retention-managed record — under one policy across the whole estate.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SCANNING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filing cabinet, retired — estate-wide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Passport, national ID or licence. The guest's own phone works for pre-arrival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4076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5244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5244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95244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95244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zone and field OCR extract name, number, nationality and expiry. No typing.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48072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card pre-filled from the scan, signed on a tablet or the guest's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2068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03236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3236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03236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03236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under a separate key. Every read logged with actor, time and reason.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56064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57232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retention policy, set by the group, enforced per property, with a provable deletion trail.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vault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800600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and invoices · signed contracts and banquet event orders · incident reports · supplier documents · the statutory guest register, exportable per jurisdiction for police and immigration filing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guest, remembered across the estate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38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property record holds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captured once — floor, bed, pillow, newspaper, language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dietary restrictions, which reach the kitchen ticket as a hard warning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across every outlet, not just room revenue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history: what was asked for, how fast it was delivered, what went wrong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consent ledger recording what was agreed, when, and which version of the text was shown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5059375" cy="356616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9385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3774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gets substance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6426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programme knows the stays. This adds what they ate, asked for and cared about.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allergy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558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 the kitchen, not remembered by a waiter who is off shift tomorrow.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0690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preference set in one property is honoured at the next one in the estate.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1713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8231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failure is visible to the next property before the guest has to repeat it.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ANCILLARY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are yours. The rest has no system.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compete with central reservations for room inventory. We take the reservation as an input, and we run the demand your enterprise stack was never built to handle.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2971800"/>
          </a:xfrm>
          <a:prstGeom prst="roundRect">
            <a:avLst>
              <a:gd name="adj" fmla="val 2769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— yours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 remains the system of record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the confirmed reservation, and return the stay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booking engine available where a property needs its own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upsell layered on any reservation, whatever its channel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87975" cy="2971800"/>
          </a:xfrm>
          <a:prstGeom prst="roundRect">
            <a:avLst>
              <a:gd name="adj" fmla="val 2769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ours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tables, by service and by section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treatments and therapist availability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classes, courts, equipment and pool cabanas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and meeting rooms, with banquet event orders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transfers and airport pickup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5394960"/>
            <a:ext cx="10271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 engine serves every resource — a table, a therapist, a boardroom and a shuttle seat are the same problem, solved once and deployed estate-wide.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charge, one folio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restaurant, spa, minibar, laundry, the television — every outlet posts through one interface, and the folio reconciles to the property management system you already run.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4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95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237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38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976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525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526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813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&amp; facilities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814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101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02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84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38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&amp; laundry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639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12724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0080" y="312724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FOLIO   →   POSTED TO YOUR PMS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digital wallet, bank transfer and cash — reconciled in one ledger, per property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593592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813048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on file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13048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Tokenised for pre-authorisation, incidentals and no-show charges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47104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766560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billing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guest, item or company; city ledger for corporate and group accounts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720072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720072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goes device to acquirer. We hold a token, never a card number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order. One kitchen.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table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on a tablet, or the guest scans the code and orders without waiting.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13048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that follow the guest and close to the room, not to a card at the till.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47104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 on the television or the phone, posted to the folio automatically.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00616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20072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20072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site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Poolside, lobby, terrace. The code carries the location; the order knows where to go.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10911535" cy="1481328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all four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routed by prep station, courses fired in order, bar split from kitchen.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menu control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item once and it clears the television, the codes and the tablets at once.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1131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not just revenue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1131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costing and stock depletion roll outlet profitability up to the group.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in one queue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 asks by television, by phone, by chat or at the desk. Staff see one list. Head office sees whether the brand standard was met.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3774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moves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— from any channel, tagged to the stay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87552" y="3282696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30098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— type, priority, target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552" y="3767328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7856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— to a person, not to a department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87552" y="4251960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270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Clocked — the SLA runs, and escalates if it breaches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7552" y="4736592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— logged against the guest, the room and the property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26480" y="214884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55664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2624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status, turn-down, linen, inspection and out-of-order rooms on one board.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324612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55664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with asset history, so a recurring fault becomes visible as a pattern.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55664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reporting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48188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attainment per property, comparable across the estate, without a manual audit.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3FB6A8">
              <a:alpha val="9000"/>
            </a:srgbClr>
          </a:solidFill>
          <a:ln w="12700">
            <a:solidFill>
              <a:srgbClr val="3FB6A8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devices in the room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a guest touches once the door closes: the screen on the wall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beside the bed. Both bought locally in most estates. Both ours to fix.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television into the hotel itself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92240" cy="3657600"/>
          </a:xfrm>
          <a:prstGeom prst="roundRect">
            <a:avLst>
              <a:gd name="adj" fmla="val 2500"/>
            </a:avLst>
          </a:prstGeom>
          <a:solidFill>
            <a:srgbClr val="05090F"/>
          </a:solidFill>
          <a:ln w="254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evening, Ms Reyes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812  ·  2 nights remaining  ·  Gold member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15000" y="195681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15000" y="19568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messages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60120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E2E4A"/>
          </a:solidFill>
          <a:ln w="1905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TV, films and series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08376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91256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191256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Dining, in-room, bar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56632" y="2743200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9512" y="296265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39512" y="32918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Spa, tables, tours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housekeeping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08376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91256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191256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and wayfinding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56632" y="3959352"/>
            <a:ext cx="1901952" cy="1051560"/>
          </a:xfrm>
          <a:prstGeom prst="roundRect">
            <a:avLst>
              <a:gd name="adj" fmla="val 6957"/>
            </a:avLst>
          </a:prstGeom>
          <a:solidFill>
            <a:srgbClr val="121C2E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39512" y="417880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39512" y="450799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and express checkout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173736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 arrival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2011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nights remaining and loyalty tier — drawn from the same record the front desk reads.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26700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 every property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94436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application, one interface, one brand standard, on every set in the estate.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6027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not just cost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387705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reaches room service, the spa and the bar. The screen begins to earn.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453542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between guests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0" y="48097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Profile, cast pairings, history and cached logins cleared automatically on turnover.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box behind the television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hotel TV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per room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73736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set-top box, a power supply, an HDMI lead, a mount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737360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application runs on the television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505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per property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cabled and provisioned individually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45059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firmware profile, cloned across the estate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16382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points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6382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Box, power supply and cable — all guest-accessible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163824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television, already under warranty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7705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input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87705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remote, and a lesson in which one to use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77056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that came with the television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590288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5902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age and are replaced on their own cycle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590288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television capex plan you already have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Android TV or Google TV hospitality models, which permit managed install and lockdown. Tizen and webOS estates run the same app on a small Android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ANDROID, 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Android app. Every screen.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device that runs our application runs Android — the television in the room, the tablets on the floor, the handhelds in the corridor, the kiosk in the lobby. One application, one release train, one way to manage a device.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In-room television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TV / Google 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TCL, Sony, Hisense, Philips and others. The guest app runs on the set — nothing behind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31336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tablets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31336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sale, kitchen display, housekeeping and inspection boards.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47104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4848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Handhelds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and ID capture at the desk or kerbside, order running, maintenance work orders.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0616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38360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 kiosk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Lobby check-in, document capture and signature, key issue.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43400"/>
            <a:ext cx="10911535" cy="1417320"/>
          </a:xfrm>
          <a:prstGeom prst="roundRect">
            <a:avLst>
              <a:gd name="adj" fmla="val 580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operating system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and one release train, not four · one device-management enrolment for the whole estate · commodity hardware the group can source in any market · a single patch and security posture to put in front of your vendor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quote, we survey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models per property, and whether they are Android hospitality SKUs · per-room network to each set · VLAN separation of guest and device traffic · multicast, where live television is carried over IP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in-room handset is the exception — a SIP endpoint on your own PBX. Tizen and webOS sets are not native Android targets, and run the app on a small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Entertainment, powered by Orpheus Nations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property negotiates with a distributor, assembles a library, or maintains a player. The entertainment layer is licensed centrally as part of the platform and deployed identically across the estate.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entertainment presented inside your interface, not a third party's.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31336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31336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television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31336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and international channels with a proper programme guide, over the room network.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84848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guest's own services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and mirroring from their phone, so their subscriptions travel with them.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38360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383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channels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information, dining, spa, events and promotion, alongside the entertainment.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A2438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6177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entertainment is why the guest picks up the remote. Everything else in this deck is why the operator is glad they did.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phone beside the bed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SIP handset registers to the PBX you already run. We do not replace your telephony — we give the handset the guest record, and we put the calls on the folio.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PBX, unchanged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registers to your existing SIP platform. No forklift, no new call path, no carrier contract to renegotiate.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13048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1304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who is in the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carries the guest's name and language. Dial 0 and the desk sees the profile before the call is answered.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0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Wake-up calls that work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from the handset, the television or the desk — one schedule, escalating to the desk if the guest does not answer.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20072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20072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on the folio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20072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records priced and posted to the same folio as dinner and the minibar, through the same interface as every other outlet.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extensions, not radios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PBX rings the Android handhelds housekeeping and maintenance already carry. One numbering plan, no separate DECT fleet to buy or maintain, and a service ticket that can call the guest back.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calling, verified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emergency dialling with no prefix, simultaneous notification to the front desk, and a dispatchable location for every room — checked at survey against the rules of each market you operate in.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Analogue handsets in older rooms bridge to the same PBX through an adapter — a room does not have to be rewired to join the platform.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and operator want different things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branded estate the party funding the capital expenditure and the party setting the standard are rarely the same. The platform has to answer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 per occupied room, from a screen that previously earned nothing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vendor contracts consolidated into one line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Set-top hardware removed from the refresh 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hours returned at the desk, the outlets and night audit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that improves on the schedule the televisions are replaced on anyway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83096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48856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standard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8856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experience across every property, not one per procurement decision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SLAs measured continuously rather than by mystery shopper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compliance evidenced from operational data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preferences portable between properties in the estate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retention under one policy, enforced everywhere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managed and franchised properties the split differs — we scope who signs, who pays and who is served, per agreement type.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COMMERCIAL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platform pays for itself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effects, each measurable on a property P&amp;L and each multiplying by the number of properties. The chart is a worked model — we rebuild it on the group's real figures before proposal.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67712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267712"/>
            <a:ext cx="3687775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18388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834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relative, not absolute. Ancillary revenue is set to 1.0 and the rest scaled against it.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bars are revenue. The rest are cost — contracts not renewed, hours not worked, hardware not bought. They are the least visible effects and usually the most certain.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revenue is deliberately absent: guests use their own mobiles, and telephony earns its place here on cost and compliance, not on billed minutes.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 only. No client figures have been used. Rebuilt on the group's own outlet revenue, vendor spend, payroll and capex plan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your vendor review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documents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scans encrypted under a separately managed key, released only with a reason code, purged on a group-set retention clock.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71416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27448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the platform. Capture device to acquirer; we hold a token. PCI scope stays on the light-touch assessment.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02752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58784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and least-privilege, federated to your identity provider. Group sees the estate, property sees itself.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state change. Every privileged read carries actor, time and reason, exportable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71416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property and per region — a requirement for any operator across multiple jurisdictions.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02752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8784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558784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and an independent penetration test are committed deliverables, completed before pilot sign-off.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stated as a commitment with a date, not as a credential already held. Any claim to the contrary should be corrected before this deck is presented.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one property. Then the estate.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estate-wide before it is proven in a property the group chooses.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21992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214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survey &amp; foundation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2140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and network survey. Guest record, identity capture and the document vault live in one property.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214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898648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89864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798064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money &amp; the room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9806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folio, one outlet, and the guest television application. The full guest journey, one site.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2798064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575304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357530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measure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7472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revenue, SLA attainment and labour effect measured against the property's own baseline.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4747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17–20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151376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" y="4251960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4251960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513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1513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properties, deliberately mixed — different TV estates, different PMS versions, different markets.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4151376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828032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928616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92861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8280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82803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deployment runbook, regional teams, phased against the television refresh plan.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287000" y="4828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11+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6235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exists so the estate decision is made on measured results, not on this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822960"/>
            <a:ext cx="2926080" cy="5486400"/>
          </a:xfrm>
          <a:prstGeom prst="roundRect">
            <a:avLst>
              <a:gd name="adj" fmla="val 6250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05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pilot property,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by you,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own baseline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36393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vendor audit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63931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property runs today, what it costs the group, and what the platform consolidates.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scoping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89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PMS, loyalty platform and identity provider — interfaces agreed and documented, not assumed.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138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1389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model rebuilt on your figures, with a measurement gate before any estate commitment.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035040"/>
            <a:ext cx="10881360" cy="0"/>
          </a:xfrm>
          <a:prstGeom prst="line">
            <a:avLst/>
          </a:prstGeom>
          <a:noFill/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  ·  one guest record, every property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Orpheus Hospitality Suite</dc:title>
  <dc:subject>PptxGenJS Presentation</dc:subject>
  <dc:creator>Orpheus Hospitality Suite</dc:creator>
  <cp:lastModifiedBy>Orpheus Hospitality Suite</cp:lastModifiedBy>
  <cp:revision>1</cp:revision>
  <dcterms:created xsi:type="dcterms:W3CDTF">2026-09-02T02:08:22Z</dcterms:created>
  <dcterms:modified xsi:type="dcterms:W3CDTF">2026-09-02T02:08:22Z</dcterms:modified>
</cp:coreProperties>
</file>