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1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effect per property</c:v>
                </c:pt>
              </c:strCache>
            </c:strRef>
          </c:tx>
          <c:spPr>
            <a:solidFill>
              <a:srgbClr val="A87C1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Ancillary revenue
(dining, spa and tours from the TV)</c:v>
                  </c:pt>
                  <c:pt idx="1">
                    <c:v>Vendor contracts consolidated
(TV, POS, concierge tooling)</c:v>
                  </c:pt>
                  <c:pt idx="2">
                    <c:v>Labour hours returned
(desk, outlets, night audit)</c:v>
                  </c:pt>
                  <c:pt idx="3">
                    <c:v>Set-top hardware avoided
(at TV refresh)</c:v>
                  </c:pt>
                  <c:pt idx="4">
                    <c:v>Direct booking
(where the property runs its own)</c:v>
                  </c:pt>
                  <c:pt idx="5">
                    <c:v>Radio and DECT fleet avoided
(staff handhelds are extensions)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</c:v>
                </c:pt>
                <c:pt idx="1">
                  <c:v>0.54</c:v>
                </c:pt>
                <c:pt idx="2">
                  <c:v>0.47</c:v>
                </c:pt>
                <c:pt idx="3">
                  <c:v>0.33</c:v>
                </c:pt>
                <c:pt idx="4">
                  <c:v>0.29</c:v>
                </c:pt>
                <c:pt idx="5">
                  <c:v>0.19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5A68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8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Audience is a group owner or operator, not an independent. Establish in the first minute that we are not proposing to replace the enterprise core — we are proposing to own the layer between that core and the guest, which today is a patchwork of property-level vendors.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framing that earns the meeting: we are not competing with the enterprise stack, we are fixing the layer beneath it. Ask how many TV vendors and POS systems the estate carries — the number is usually higher than head office expects.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Deliberately not fabricated percentages. At proposal stage this slide becomes the group's real vendor count and spend, which is far more persuasive than a benchmark and is a number head office often cannot produce on request.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an operator the word that matters is 'converges'. Every year of local procurement pushes the estate further apart; this is the first layer that pulls it back together without touching the enterprise core.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the group's IT function will test you on. The honest position — scoped per vendor, agreed before pilot, no generic connector — is what separates a credible integration story from a slideware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Voice is the newest module and the easiest sell to a property that already runs a PBX: it is the only one that adds a guest-facing device without adding a platform, because the handset registers to the SIP system they already 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step six hard. Preference portability across the estate is a genuine group advantage that independents structurally cannot match, and most groups fail to deliver it below the loyalty tier.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break. For a group, the interesting word is 'centrally' — document risk currently sits with each property and is invisible to head office.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Per-jurisdiction register export is the detail that matters to a cross-border operator — the obligation differs by market and is currently met manually, differently, in each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'Loyalty gets substance' is the line for the operator: the enterprise programme knows transactions, not preferences. This feeds it the texture it has never had.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Conceding room inventory to the CRS is what makes the rest of the pitch credible. A vendor who claims to replace central reservations is shown the door; a vendor who claims the ancillary layer is filling a real gap.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Tokenisation keeps the property on the light-touch PCI self-assessment. For a group with a hundred properties that is a hundred audits made cheaper, which is a procurement argument as much as a technical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Outlet margin rolling up to the group is the F&amp;B point head office cares about — most estates can see outlet revenue and cannot see outlet profitability without a manual exercise.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Brand standard reporting is the operator's hook. Today SLA attainment is measured by mystery shopper and self-report; this measures it continuously as a by-product of doing the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into the entertainment story. The framing for a group is consistency, not novelty.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screen on this slide is the real interface, not an illustration — the same rail, featured card and rows a subscriber sees at home. That is the point: the hotel is not commissioning a bespoke TV system, it is switching on a hospitality mode in a product that already ships. Volunteer the checkout wipe before IT asks; every group has been burned by a guest finding the previous occupant's signed-in streaming account.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Raise the Android-SKU caveat yourself. For an owner it lands as a capex-timing question, not an objection: the platform aligns to the television refresh cycle already in the plan, and Android hospitality sets are the cheapest end of that market.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Committing to Android is a strength, not a limitation — say it that way. One codebase instead of four, one MDM enrolment, and hardware the group can buy in any market. The cost is honest and on the slide: a Samsung or LG estate needs a small Android device until refresh, so establish early which sets a given property actually 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PLACEHOLDER — replace these four cards with the real Orpheus Nations catalogue, channel line-up and licensed territories before this deck goes to a client. Content specifics were not available when the deck was drafted.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things to lead with in the room. First, this is the cheapest module to say yes to: the PBX, the handsets and the numbering plan already exist, so the work is integration rather than replacement. Second, emergency calling — direct dial with no prefix, desk notification and a per-room dispatchable location are legal requirements in several markets and are the fastest way to find out whether a property's current telephony is actually compliant.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early in the meeting which side of this slide the room sits on. A deck that pitches operator benefits to an owner, or capex savings to a brand team, loses both.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caveat out loud. For an enterprise buyer, offering to rebuild the model on their numbers during the systems audit is the ask that converts this meeting into a second one. If someone asks why call revenue is not a bar: it has been falling for twenty years and pretending otherwise costs you credibility on every other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exact here. Enterprise procurement will ask for the SOC 2 report; promising it on a date is credible, implying it exists is a deal-ending discovery. Update this slide the moment the audit completes.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3 is the credibility move. Volunteering a measurement gate before estate commitment is what an enterprise buyer expects and what most vendors avoid offering.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audit and the integration scoping, not on the product. Both are low-commitment yeses, and both produce the facts every later conversation depends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7863840" y="-1005840"/>
            <a:ext cx="2926080" cy="5669280"/>
          </a:xfrm>
          <a:prstGeom prst="roundRect">
            <a:avLst>
              <a:gd name="adj" fmla="val 6250"/>
            </a:avLst>
          </a:prstGeom>
          <a:solidFill>
            <a:srgbClr val="D4A94A">
              <a:alpha val="10000"/>
            </a:srgbClr>
          </a:solidFill>
          <a:ln w="12700">
            <a:solidFill>
              <a:srgbClr val="D4A94A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080000">
            <a:off x="9509760" y="365760"/>
            <a:ext cx="2743200" cy="5852160"/>
          </a:xfrm>
          <a:prstGeom prst="roundRect">
            <a:avLst>
              <a:gd name="adj" fmla="val 6667"/>
            </a:avLst>
          </a:prstGeom>
          <a:solidFill>
            <a:srgbClr val="3FB6A8">
              <a:alpha val="8000"/>
            </a:srgbClr>
          </a:solidFill>
          <a:ln w="12700">
            <a:solidFill>
              <a:srgbClr val="3FB6A8">
                <a:alpha val="18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HOTEL OWNERS AND OPERATORS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65960"/>
            <a:ext cx="7132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50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Orpheus</a:t>
            </a:r>
            <a:endParaRPr lang="en-US" sz="50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50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Hospitality Suite</a:t>
            </a:r>
            <a:endParaRPr lang="en-US" sz="5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822192"/>
            <a:ext cx="6903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property-level guest experience layer — in-room entertainment, dining, concierge, facility booking, payments and digital documents — running on one guest record and plugged into the enterprise systems you already own.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5321808"/>
            <a:ext cx="3017520" cy="420624"/>
          </a:xfrm>
          <a:prstGeom prst="roundRect">
            <a:avLst>
              <a:gd name="adj" fmla="val 50000"/>
            </a:avLst>
          </a:prstGeom>
          <a:solidFill>
            <a:srgbClr val="16223A"/>
          </a:solidFill>
          <a:ln w="12700">
            <a:solidFill>
              <a:srgbClr val="2735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5321808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Android app. No set-top box.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840480" y="5321808"/>
            <a:ext cx="3017520" cy="420624"/>
          </a:xfrm>
          <a:prstGeom prst="roundRect">
            <a:avLst>
              <a:gd name="adj" fmla="val 50000"/>
            </a:avLst>
          </a:prstGeom>
          <a:solidFill>
            <a:srgbClr val="16223A"/>
          </a:solidFill>
          <a:ln w="12700">
            <a:solidFill>
              <a:srgbClr val="27354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40480" y="5321808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by Orpheus Nations.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core is solved. The last mile is not.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reservations, the property management system and the loyalty programme are enterprise-grade and estate-wide. Below them, the systems the guest actually touches were bought property by property, from whoever was local.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5257800" cy="3246120"/>
          </a:xfrm>
          <a:prstGeom prst="roundRect">
            <a:avLst>
              <a:gd name="adj" fmla="val 2535"/>
            </a:avLst>
          </a:prstGeom>
          <a:solidFill>
            <a:srgbClr val="0B1220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87552" y="2578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ESTATE-WIDE, ENTERPRISE, YOURS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303580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reservations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27355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inventory, one rate strategy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36576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management system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389534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Opera-class, standardised across the estate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427939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loyalty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4517136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programme, one member identity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987552" y="490118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finance and reporting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51389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Consolidated to the group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63640" y="2331720"/>
            <a:ext cx="5287975" cy="3246120"/>
          </a:xfrm>
          <a:prstGeom prst="roundRect">
            <a:avLst>
              <a:gd name="adj" fmla="val 2535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611112" y="257860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BY PROPERTY, LOCAL, INCONSISTENT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611112" y="303580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In-room television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611112" y="3273552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with the hardware, different vendor per site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611112" y="365760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 and bar point of sale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611112" y="3895344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two systems, rarely reporting to the group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611112" y="4279392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Concierge and service requests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611112" y="4517136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Radio, paper log, or a spreadsheet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611112" y="4901184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identity documents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611112" y="513892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Photocopied, filed, retained indefinitely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COSTS AT ESTATE SCALE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Property fragmentation is paid at the group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670048" cy="3246120"/>
          </a:xfrm>
          <a:prstGeom prst="roundRect">
            <a:avLst>
              <a:gd name="adj" fmla="val 3082"/>
            </a:avLst>
          </a:prstGeom>
          <a:solidFill>
            <a:srgbClr val="16223A"/>
          </a:solidFill>
          <a:ln w="12700">
            <a:solidFill>
              <a:srgbClr val="27354F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96112" y="2121408"/>
            <a:ext cx="21579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4A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site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633472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contracts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3200400"/>
            <a:ext cx="215798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TV, POS, concierge and document handling procured locally — renewed locally, audited locally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593592" y="1828800"/>
            <a:ext cx="2670048" cy="3246120"/>
          </a:xfrm>
          <a:prstGeom prst="roundRect">
            <a:avLst>
              <a:gd name="adj" fmla="val 3082"/>
            </a:avLst>
          </a:prstGeom>
          <a:solidFill>
            <a:srgbClr val="16223A"/>
          </a:solidFill>
          <a:ln w="12700">
            <a:solidFill>
              <a:srgbClr val="27354F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849624" y="2121408"/>
            <a:ext cx="21579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4A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Uneven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3849624" y="2633472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experience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3849624" y="3200400"/>
            <a:ext cx="215798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brand promise delivered differently in every property the guest visits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547104" y="1828800"/>
            <a:ext cx="2670048" cy="3246120"/>
          </a:xfrm>
          <a:prstGeom prst="roundRect">
            <a:avLst>
              <a:gd name="adj" fmla="val 3082"/>
            </a:avLst>
          </a:prstGeom>
          <a:solidFill>
            <a:srgbClr val="16223A"/>
          </a:solidFill>
          <a:ln w="12700">
            <a:solidFill>
              <a:srgbClr val="27354F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803136" y="2121408"/>
            <a:ext cx="21579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4A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Partial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803136" y="2633472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ancillary data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6803136" y="3200400"/>
            <a:ext cx="215798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outlet, spa and in-room revenue that never rolls up cleanly to the group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500616" y="1828800"/>
            <a:ext cx="2670048" cy="3246120"/>
          </a:xfrm>
          <a:prstGeom prst="roundRect">
            <a:avLst>
              <a:gd name="adj" fmla="val 3082"/>
            </a:avLst>
          </a:prstGeom>
          <a:solidFill>
            <a:srgbClr val="16223A"/>
          </a:solidFill>
          <a:ln w="12700">
            <a:solidFill>
              <a:srgbClr val="27354F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756648" y="2121408"/>
            <a:ext cx="21579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4A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Siloed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9756648" y="2633472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risk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9756648" y="3200400"/>
            <a:ext cx="215798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documents held at property level, with no estate-wide retention control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629107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Characteristic of multi-property estates with locally procured guest-facing systems. Replaced with the group's own vendor inventory at proposal stage.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guest layer. Every property.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guest is identified once and read by every surface below the enterprise stack — consistently, in every property, whatever the brand standard requires.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480560" y="3310128"/>
            <a:ext cx="3200400" cy="1051560"/>
          </a:xfrm>
          <a:prstGeom prst="roundRect">
            <a:avLst>
              <a:gd name="adj" fmla="val 10435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4480560" y="346557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GUEST RECORD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4480560" y="377647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· preferences · history · consent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2697480"/>
            <a:ext cx="251460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0080" y="269748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Pre-arrival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897380" y="3154680"/>
            <a:ext cx="0" cy="155448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20440" y="2697480"/>
            <a:ext cx="251460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520440" y="269748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desk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77740" y="3154680"/>
            <a:ext cx="0" cy="155448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2697480"/>
            <a:ext cx="251460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400800" y="269748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In-room TV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658100" y="3154680"/>
            <a:ext cx="0" cy="155448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281160" y="2697480"/>
            <a:ext cx="251460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281160" y="269748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mobile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0538460" y="3154680"/>
            <a:ext cx="0" cy="155448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4517136"/>
            <a:ext cx="251460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40080" y="4517136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 &amp; bar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897380" y="4361688"/>
            <a:ext cx="0" cy="155448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0440" y="4517136"/>
            <a:ext cx="251460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3520440" y="4517136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Concierge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777740" y="4361688"/>
            <a:ext cx="0" cy="155448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0" y="4517136"/>
            <a:ext cx="251460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6400800" y="4517136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&amp; folio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658100" y="4361688"/>
            <a:ext cx="0" cy="155448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281160" y="4517136"/>
            <a:ext cx="251460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9281160" y="4517136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reporting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10538460" y="4361688"/>
            <a:ext cx="0" cy="155448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40080" y="534924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deployment model, repeated per property — so the estate converges instead of diverging.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we sit in your stack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 not replace central reservations, the property management system, or the loyalty programme. We consume them, and we own the layer they do not reach.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84832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0B1220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32688" y="221284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YOURS — ENTERPRISE, UNCHANGED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32688" y="2505456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1C2942"/>
          </a:solidFill>
          <a:ln w="12700">
            <a:solidFill>
              <a:srgbClr val="2735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505456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reservations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651760" y="2505456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1C2942"/>
          </a:solidFill>
          <a:ln w="12700">
            <a:solidFill>
              <a:srgbClr val="27354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51760" y="2505456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management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370832" y="2505456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1C2942"/>
          </a:solidFill>
          <a:ln w="12700">
            <a:solidFill>
              <a:srgbClr val="2735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370832" y="2505456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loyalty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089904" y="2505456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1C2942"/>
          </a:solidFill>
          <a:ln w="12700">
            <a:solidFill>
              <a:srgbClr val="2735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9904" y="2505456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SIP PBX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808976" y="2505456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1C2942"/>
          </a:solidFill>
          <a:ln w="12700">
            <a:solidFill>
              <a:srgbClr val="27354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808976" y="2505456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finance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528048" y="2505456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1C2942"/>
          </a:solidFill>
          <a:ln w="12700">
            <a:solidFill>
              <a:srgbClr val="27354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528048" y="2505456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/ SSO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737360" y="3035808"/>
            <a:ext cx="0" cy="274320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headEnd type="triangl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0515600" y="3035808"/>
            <a:ext cx="0" cy="274320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headEnd type="triangle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640080" y="306324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&amp; stay sync  ·  folio posting  ·  loyalty accrual  ·  call records  ·  single sign-on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40080" y="3383280"/>
            <a:ext cx="10911535" cy="1234440"/>
          </a:xfrm>
          <a:prstGeom prst="roundRect">
            <a:avLst>
              <a:gd name="adj" fmla="val 6667"/>
            </a:avLst>
          </a:prstGeom>
          <a:solidFill>
            <a:srgbClr val="FBF6E9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932688" y="3511296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 — THE PROPERTY GUEST LAYER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32688" y="3803904"/>
            <a:ext cx="97840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41832" y="3803904"/>
            <a:ext cx="960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</a:t>
            </a:r>
            <a:endParaRPr lang="en-US" sz="8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docs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1965046" y="3803904"/>
            <a:ext cx="97840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974190" y="3803904"/>
            <a:ext cx="960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</a:t>
            </a:r>
            <a:endParaRPr lang="en-US" sz="8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2997403" y="3803904"/>
            <a:ext cx="97840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006547" y="3803904"/>
            <a:ext cx="960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</a:t>
            </a:r>
            <a:endParaRPr lang="en-US" sz="8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029761" y="3803904"/>
            <a:ext cx="97840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038905" y="3803904"/>
            <a:ext cx="960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</a:t>
            </a:r>
            <a:endParaRPr lang="en-US" sz="8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bookings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062118" y="3803904"/>
            <a:ext cx="97840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71262" y="3803904"/>
            <a:ext cx="960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</a:t>
            </a:r>
            <a:endParaRPr lang="en-US" sz="8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folio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094476" y="3803904"/>
            <a:ext cx="97840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103620" y="3803904"/>
            <a:ext cx="960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Ordering</a:t>
            </a:r>
            <a:endParaRPr lang="en-US" sz="8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F&amp;B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7126834" y="3803904"/>
            <a:ext cx="97840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135978" y="3803904"/>
            <a:ext cx="960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Concierge</a:t>
            </a:r>
            <a:endParaRPr lang="en-US" sz="8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service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8159191" y="3803904"/>
            <a:ext cx="97840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168335" y="3803904"/>
            <a:ext cx="960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</a:t>
            </a:r>
            <a:endParaRPr lang="en-US" sz="8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PBX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9191549" y="3803904"/>
            <a:ext cx="97840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200693" y="3803904"/>
            <a:ext cx="960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Entertainment</a:t>
            </a:r>
            <a:endParaRPr lang="en-US" sz="8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TV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10223906" y="3803904"/>
            <a:ext cx="97840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10233050" y="3803904"/>
            <a:ext cx="960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8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data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1737360" y="4654296"/>
            <a:ext cx="0" cy="256032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6099048" y="4654296"/>
            <a:ext cx="0" cy="256032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10515600" y="4654296"/>
            <a:ext cx="0" cy="256032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640080" y="4983480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48" name="Text 46"/>
          <p:cNvSpPr txBox="1"/>
          <p:nvPr/>
        </p:nvSpPr>
        <p:spPr>
          <a:xfrm>
            <a:off x="932688" y="509320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2651760" y="507492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In-room TV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3763670" y="507492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In-room phone</a:t>
            </a:r>
            <a:endParaRPr lang="en-US" sz="900" dirty="0"/>
          </a:p>
        </p:txBody>
      </p:sp>
      <p:sp>
        <p:nvSpPr>
          <p:cNvPr id="51" name="Text 49"/>
          <p:cNvSpPr txBox="1"/>
          <p:nvPr/>
        </p:nvSpPr>
        <p:spPr>
          <a:xfrm>
            <a:off x="4875581" y="507492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mobile</a:t>
            </a:r>
            <a:endParaRPr lang="en-US" sz="900" dirty="0"/>
          </a:p>
        </p:txBody>
      </p:sp>
      <p:sp>
        <p:nvSpPr>
          <p:cNvPr id="52" name="Text 50"/>
          <p:cNvSpPr txBox="1"/>
          <p:nvPr/>
        </p:nvSpPr>
        <p:spPr>
          <a:xfrm>
            <a:off x="5987491" y="507492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on site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7099402" y="507492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desk</a:t>
            </a:r>
            <a:endParaRPr lang="en-US" sz="900" dirty="0"/>
          </a:p>
        </p:txBody>
      </p:sp>
      <p:sp>
        <p:nvSpPr>
          <p:cNvPr id="54" name="Text 52"/>
          <p:cNvSpPr txBox="1"/>
          <p:nvPr/>
        </p:nvSpPr>
        <p:spPr>
          <a:xfrm>
            <a:off x="8211312" y="507492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 display</a:t>
            </a:r>
            <a:endParaRPr lang="en-US" sz="900" dirty="0"/>
          </a:p>
        </p:txBody>
      </p:sp>
      <p:sp>
        <p:nvSpPr>
          <p:cNvPr id="55" name="Text 53"/>
          <p:cNvSpPr txBox="1"/>
          <p:nvPr/>
        </p:nvSpPr>
        <p:spPr>
          <a:xfrm>
            <a:off x="9323222" y="507492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Housekeeping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10435133" y="507492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view</a:t>
            </a:r>
            <a:endParaRPr lang="en-US" sz="900" dirty="0"/>
          </a:p>
        </p:txBody>
      </p:sp>
      <p:sp>
        <p:nvSpPr>
          <p:cNvPr id="57" name="Text 55"/>
          <p:cNvSpPr txBox="1"/>
          <p:nvPr/>
        </p:nvSpPr>
        <p:spPr>
          <a:xfrm>
            <a:off x="2651760" y="5468112"/>
            <a:ext cx="4443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guest-facing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7095744" y="5468112"/>
            <a:ext cx="4443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staff-facing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640080" y="629107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is scoped per PMS and per loyalty platform. We do not promise a generic connector — the interface is agreed before the pilot.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GLANCE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modules, one platform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962302" cy="1828800"/>
          </a:xfrm>
          <a:prstGeom prst="roundRect">
            <a:avLst>
              <a:gd name="adj" fmla="val 4500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89280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1892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404872"/>
            <a:ext cx="155996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Documents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898648"/>
            <a:ext cx="155996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Scanning, OCR, e-signature, secure vault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876702" y="1691640"/>
            <a:ext cx="1962302" cy="1828800"/>
          </a:xfrm>
          <a:prstGeom prst="roundRect">
            <a:avLst>
              <a:gd name="adj" fmla="val 4500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077870" y="189280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77870" y="1892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077870" y="2404872"/>
            <a:ext cx="155996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Profile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077870" y="2898648"/>
            <a:ext cx="155996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Preferences, allergies, history, consent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113325" y="1691640"/>
            <a:ext cx="1962302" cy="1828800"/>
          </a:xfrm>
          <a:prstGeom prst="roundRect">
            <a:avLst>
              <a:gd name="adj" fmla="val 4500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314493" y="189280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314493" y="1892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BK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314493" y="2404872"/>
            <a:ext cx="155996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314493" y="2898648"/>
            <a:ext cx="155996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engine, pre-arrival upsell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349947" y="1691640"/>
            <a:ext cx="1962302" cy="1828800"/>
          </a:xfrm>
          <a:prstGeom prst="roundRect">
            <a:avLst>
              <a:gd name="adj" fmla="val 4500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551115" y="189280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51115" y="1892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551115" y="2404872"/>
            <a:ext cx="155996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7551115" y="2898648"/>
            <a:ext cx="155996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Tables, spa, function rooms, tours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9586570" y="1691640"/>
            <a:ext cx="1962302" cy="1828800"/>
          </a:xfrm>
          <a:prstGeom prst="roundRect">
            <a:avLst>
              <a:gd name="adj" fmla="val 4500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787738" y="189280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87738" y="1892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9787738" y="2404872"/>
            <a:ext cx="155996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&amp; Folio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9787738" y="2898648"/>
            <a:ext cx="155996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Cards, wallets, room charge, settlement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40080" y="3758184"/>
            <a:ext cx="1962302" cy="1828800"/>
          </a:xfrm>
          <a:prstGeom prst="roundRect">
            <a:avLst>
              <a:gd name="adj" fmla="val 4500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41248" y="3959352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41248" y="3959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41248" y="4471416"/>
            <a:ext cx="155996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Ordering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841248" y="4965192"/>
            <a:ext cx="155996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Restaurant, bar, in-room dining, kitchen display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876702" y="3758184"/>
            <a:ext cx="1962302" cy="1828800"/>
          </a:xfrm>
          <a:prstGeom prst="roundRect">
            <a:avLst>
              <a:gd name="adj" fmla="val 4500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077870" y="3959352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077870" y="3959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3077870" y="4471416"/>
            <a:ext cx="155996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Concierge &amp; Service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3077870" y="4965192"/>
            <a:ext cx="155996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Requests, SLA ticketing, housekeeping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5113325" y="3758184"/>
            <a:ext cx="1962302" cy="1828800"/>
          </a:xfrm>
          <a:prstGeom prst="roundRect">
            <a:avLst>
              <a:gd name="adj" fmla="val 4500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5314493" y="3959352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314493" y="3959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TV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5314493" y="4471416"/>
            <a:ext cx="155996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Entertainment</a:t>
            </a:r>
            <a:endParaRPr lang="en-US" sz="1250" dirty="0"/>
          </a:p>
        </p:txBody>
      </p:sp>
      <p:sp>
        <p:nvSpPr>
          <p:cNvPr id="43" name="Text 41"/>
          <p:cNvSpPr txBox="1"/>
          <p:nvPr/>
        </p:nvSpPr>
        <p:spPr>
          <a:xfrm>
            <a:off x="5314493" y="4965192"/>
            <a:ext cx="155996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TV app, live and on-demand, casting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7349947" y="3758184"/>
            <a:ext cx="1962302" cy="1828800"/>
          </a:xfrm>
          <a:prstGeom prst="roundRect">
            <a:avLst>
              <a:gd name="adj" fmla="val 4500"/>
            </a:avLst>
          </a:prstGeom>
          <a:solidFill>
            <a:srgbClr val="FBF6E9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7551115" y="3959352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551115" y="3959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7551115" y="4471416"/>
            <a:ext cx="155996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</a:t>
            </a:r>
            <a:endParaRPr lang="en-US" sz="1250" dirty="0"/>
          </a:p>
        </p:txBody>
      </p:sp>
      <p:sp>
        <p:nvSpPr>
          <p:cNvPr id="48" name="Text 46"/>
          <p:cNvSpPr txBox="1"/>
          <p:nvPr/>
        </p:nvSpPr>
        <p:spPr>
          <a:xfrm>
            <a:off x="7551115" y="4965192"/>
            <a:ext cx="155996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In-room SIP phone, wake-ups, call posting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9586570" y="3758184"/>
            <a:ext cx="1962302" cy="1828800"/>
          </a:xfrm>
          <a:prstGeom prst="roundRect">
            <a:avLst>
              <a:gd name="adj" fmla="val 4500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9787738" y="3959352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9787738" y="3959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9787738" y="4471416"/>
            <a:ext cx="155996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250" dirty="0"/>
          </a:p>
        </p:txBody>
      </p:sp>
      <p:sp>
        <p:nvSpPr>
          <p:cNvPr id="53" name="Text 51"/>
          <p:cNvSpPr txBox="1"/>
          <p:nvPr/>
        </p:nvSpPr>
        <p:spPr>
          <a:xfrm>
            <a:off x="9787738" y="4965192"/>
            <a:ext cx="155996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Dashboards, analytics, RBAC, audit</a:t>
            </a:r>
            <a:endParaRPr lang="en-US" sz="950" dirty="0"/>
          </a:p>
        </p:txBody>
      </p:sp>
      <p:sp>
        <p:nvSpPr>
          <p:cNvPr id="54" name="Text 52"/>
          <p:cNvSpPr txBox="1"/>
          <p:nvPr/>
        </p:nvSpPr>
        <p:spPr>
          <a:xfrm>
            <a:off x="640080" y="580644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Adopted as a whole, or module by module against the gaps in a given property — the guest record is shared from the first one.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TO END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guest actually experiences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764792" cy="2788920"/>
          </a:xfrm>
          <a:prstGeom prst="roundRect">
            <a:avLst>
              <a:gd name="adj" fmla="val 4663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03020" y="2157984"/>
            <a:ext cx="438912" cy="438912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303020" y="21579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2743200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127248"/>
            <a:ext cx="14356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your central reservations, unchanged. We pick the guest up on confirmation.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423160" y="2377440"/>
            <a:ext cx="91440" cy="0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532888" y="1920240"/>
            <a:ext cx="1764792" cy="2788920"/>
          </a:xfrm>
          <a:prstGeom prst="roundRect">
            <a:avLst>
              <a:gd name="adj" fmla="val 4663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95828" y="2157984"/>
            <a:ext cx="438912" cy="438912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195828" y="21579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679192" y="2743200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Pre-arrival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2697480" y="3127248"/>
            <a:ext cx="14356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Passport scanned at home, registration card signed, card authorised, upsell offered.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15968" y="2377440"/>
            <a:ext cx="91440" cy="0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425696" y="1920240"/>
            <a:ext cx="1764792" cy="2788920"/>
          </a:xfrm>
          <a:prstGeom prst="roundRect">
            <a:avLst>
              <a:gd name="adj" fmla="val 4663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088636" y="2157984"/>
            <a:ext cx="438912" cy="438912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88636" y="21579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0" y="2743200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Arrive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4590288" y="3127248"/>
            <a:ext cx="14356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the desk. Key issued, and the television already greets them by name.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08776" y="2377440"/>
            <a:ext cx="91440" cy="0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318504" y="1920240"/>
            <a:ext cx="1764792" cy="2788920"/>
          </a:xfrm>
          <a:prstGeom prst="roundRect">
            <a:avLst>
              <a:gd name="adj" fmla="val 4663"/>
            </a:avLst>
          </a:prstGeom>
          <a:solidFill>
            <a:srgbClr val="FBF6E9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981444" y="2157984"/>
            <a:ext cx="438912" cy="438912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981444" y="21579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464808" y="2743200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6483096" y="3127248"/>
            <a:ext cx="14356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Dinner, the spa, the concierge — from the remote or their own phone.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101584" y="2377440"/>
            <a:ext cx="91440" cy="0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211312" y="1920240"/>
            <a:ext cx="1764792" cy="2788920"/>
          </a:xfrm>
          <a:prstGeom prst="roundRect">
            <a:avLst>
              <a:gd name="adj" fmla="val 4663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874252" y="2157984"/>
            <a:ext cx="438912" cy="438912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874252" y="21579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357616" y="2743200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out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8375904" y="3127248"/>
            <a:ext cx="14356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Folio reviewed on screen, settled, gone. No queue.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994392" y="2377440"/>
            <a:ext cx="91440" cy="0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10104120" y="1920240"/>
            <a:ext cx="1764792" cy="2788920"/>
          </a:xfrm>
          <a:prstGeom prst="roundRect">
            <a:avLst>
              <a:gd name="adj" fmla="val 4663"/>
            </a:avLst>
          </a:prstGeom>
          <a:solidFill>
            <a:srgbClr val="FBF6E9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10767060" y="2157984"/>
            <a:ext cx="438912" cy="438912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0767060" y="21579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250424" y="2743200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</a:t>
            </a:r>
            <a:endParaRPr lang="en-US" sz="1350" dirty="0"/>
          </a:p>
        </p:txBody>
      </p:sp>
      <p:sp>
        <p:nvSpPr>
          <p:cNvPr id="38" name="Text 36"/>
          <p:cNvSpPr txBox="1"/>
          <p:nvPr/>
        </p:nvSpPr>
        <p:spPr>
          <a:xfrm>
            <a:off x="10268712" y="3127248"/>
            <a:ext cx="14356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Preferences travel to the next property in the estate, not just the next stay here.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640080" y="4956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six is the one only a group can offer — and today almost none do.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1097280"/>
            <a:ext cx="3291840" cy="4663440"/>
          </a:xfrm>
          <a:prstGeom prst="roundRect">
            <a:avLst>
              <a:gd name="adj" fmla="val 5556"/>
            </a:avLst>
          </a:prstGeom>
          <a:solidFill>
            <a:srgbClr val="D4A94A">
              <a:alpha val="9000"/>
            </a:srgbClr>
          </a:solidFill>
          <a:ln w="12700">
            <a:solidFill>
              <a:srgbClr val="D4A94A">
                <a:alpha val="2000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20574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D4A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97180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Arrival, digitalized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8404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photocopied passports held at property level to a scanned, parsed, signed and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centrally retention-managed record — under one policy across the whole estate.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&amp; SCANNING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filing cabinet, retired — estate-wide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112264" cy="2240280"/>
          </a:xfrm>
          <a:prstGeom prst="roundRect">
            <a:avLst>
              <a:gd name="adj" fmla="val 389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202996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20299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542032"/>
            <a:ext cx="1709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889504"/>
            <a:ext cx="17099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Passport, national ID or licence. The guest's own phone works for pre-arrival capture.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894076" y="1828800"/>
            <a:ext cx="2112264" cy="2240280"/>
          </a:xfrm>
          <a:prstGeom prst="roundRect">
            <a:avLst>
              <a:gd name="adj" fmla="val 389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095244" y="202996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95244" y="20299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095244" y="2542032"/>
            <a:ext cx="1709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3095244" y="2889504"/>
            <a:ext cx="17099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Machine-readable zone and field OCR extract name, number, nationality and expiry. No typing.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148072" y="1828800"/>
            <a:ext cx="2112264" cy="2240280"/>
          </a:xfrm>
          <a:prstGeom prst="roundRect">
            <a:avLst>
              <a:gd name="adj" fmla="val 389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349240" y="202996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349240" y="20299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349240" y="2542032"/>
            <a:ext cx="1709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5349240" y="2889504"/>
            <a:ext cx="17099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card pre-filled from the scan, signed on a tablet or the guest's phone.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402068" y="1828800"/>
            <a:ext cx="2112264" cy="2240280"/>
          </a:xfrm>
          <a:prstGeom prst="roundRect">
            <a:avLst>
              <a:gd name="adj" fmla="val 389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603236" y="202996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603236" y="20299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603236" y="2542032"/>
            <a:ext cx="1709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Vault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7603236" y="2889504"/>
            <a:ext cx="17099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Encrypted storage under a separate key. Every read logged with actor, time and reason.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656064" y="1828800"/>
            <a:ext cx="2112264" cy="2240280"/>
          </a:xfrm>
          <a:prstGeom prst="roundRect">
            <a:avLst>
              <a:gd name="adj" fmla="val 389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857232" y="202996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57232" y="20299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9857232" y="2542032"/>
            <a:ext cx="1709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Purge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9857232" y="2889504"/>
            <a:ext cx="17099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retention policy, set by the group, enforced per property, with a provable deletion trail.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4315968"/>
            <a:ext cx="10911535" cy="1051560"/>
          </a:xfrm>
          <a:prstGeom prst="roundRect">
            <a:avLst>
              <a:gd name="adj" fmla="val 7826"/>
            </a:avLst>
          </a:prstGeom>
          <a:solidFill>
            <a:srgbClr val="0B1220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960120" y="44988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the vault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960120" y="4800600"/>
            <a:ext cx="10271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Folios and invoices · signed contracts and banquet event orders · incident reports · supplier documents · the statutory guest register, exportable per jurisdiction for police and immigration filing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PROFILE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guest, remembered across the estate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486400" cy="3566160"/>
          </a:xfrm>
          <a:prstGeom prst="roundRect">
            <a:avLst>
              <a:gd name="adj" fmla="val 2308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05840" y="19385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property record holds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37744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Preferences captured once — floor, bed, pillow, newspaper, language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Allergies and dietary restrictions, which reach the kitchen ticket as a hard warning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across every outlet, not just room revenue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history: what was asked for, how fast it was delivered, what went wrong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consent ledger recording what was agreed, when, and which version of the text was shown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92240" y="1691640"/>
            <a:ext cx="5059375" cy="3566160"/>
          </a:xfrm>
          <a:prstGeom prst="roundRect">
            <a:avLst>
              <a:gd name="adj" fmla="val 2308"/>
            </a:avLst>
          </a:prstGeom>
          <a:solidFill>
            <a:srgbClr val="0B1220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858000" y="1938528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changes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0" y="237744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Loyalty gets substance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858000" y="2642616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programme knows the stays. This adds what they ate, asked for and cared about.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858000" y="309067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allergy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0" y="3355848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at the kitchen, not remembered by a waiter who is off shift tomorrow.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858000" y="3803904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Portability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0" y="406908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preference set in one property is honoured at the next one in the estate.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858000" y="4517136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858000" y="4782312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service failure is visible to the next property before the guest has to repeat it.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 &amp; ANCILLARY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Rooms are yours. The rest has no system.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9875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 not compete with central reservations for room inventory. We take the reservation as an input, and we run the demand your enterprise stack was never built to handle.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5257800" cy="2971800"/>
          </a:xfrm>
          <a:prstGeom prst="roundRect">
            <a:avLst>
              <a:gd name="adj" fmla="val 2769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87552" y="248716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Rooms — yours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2944368"/>
            <a:ext cx="46177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reservations remains the system of record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consume the confirmed reservation, and return the stay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booking engine available where a property needs its own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Pre-arrival upsell layered on any reservation, whatever its channel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2240280"/>
            <a:ext cx="5287975" cy="2971800"/>
          </a:xfrm>
          <a:prstGeom prst="roundRect">
            <a:avLst>
              <a:gd name="adj" fmla="val 2769"/>
            </a:avLst>
          </a:prstGeom>
          <a:solidFill>
            <a:srgbClr val="FBF6E9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611112" y="248716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 — ours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611112" y="2944368"/>
            <a:ext cx="46177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 tables, by service and by section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 treatments and therapist availability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Gym classes, courts, equipment and pool cabanas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and meeting rooms, with banquet event orders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Tours, transfers and airport pickup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5394960"/>
            <a:ext cx="10911535" cy="749808"/>
          </a:xfrm>
          <a:prstGeom prst="roundRect">
            <a:avLst>
              <a:gd name="adj" fmla="val 10976"/>
            </a:avLst>
          </a:prstGeom>
          <a:solidFill>
            <a:srgbClr val="0B1220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960120" y="5394960"/>
            <a:ext cx="1027145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capacity engine serves every resource — a table, a therapist, a boardroom and a shuttle seat are the same problem, solved once and deployed estate-wide.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&amp; FOLIO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charge, one folio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Bar, restaurant, spa, minibar, laundry, the television — every outlet posts through one interface, and the folio reconciles to the property management system you already run.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1709928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94944" y="228600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495044" y="2852928"/>
            <a:ext cx="0" cy="237744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468880" y="2286000"/>
            <a:ext cx="1709928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523744" y="228600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23844" y="2852928"/>
            <a:ext cx="0" cy="237744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297680" y="2286000"/>
            <a:ext cx="1709928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352544" y="228600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In-room dining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152644" y="2852928"/>
            <a:ext cx="0" cy="237744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126480" y="2286000"/>
            <a:ext cx="1709928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181344" y="228600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 &amp; facilities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981444" y="2852928"/>
            <a:ext cx="0" cy="237744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955280" y="2286000"/>
            <a:ext cx="1709928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010144" y="228600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Entertainment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810244" y="2852928"/>
            <a:ext cx="0" cy="237744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784080" y="2286000"/>
            <a:ext cx="1709928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838944" y="228600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Minibar &amp; laundry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0639044" y="2852928"/>
            <a:ext cx="0" cy="237744"/>
          </a:xfrm>
          <a:prstGeom prst="line">
            <a:avLst/>
          </a:prstGeom>
          <a:noFill/>
          <a:ln w="19050">
            <a:solidFill>
              <a:srgbClr val="A87C1F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40080" y="3127248"/>
            <a:ext cx="10911535" cy="713232"/>
          </a:xfrm>
          <a:prstGeom prst="roundRect">
            <a:avLst>
              <a:gd name="adj" fmla="val 12821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40080" y="3127248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GUEST FOLIO   →   POSTED TO YOUR PMS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40080" y="4069080"/>
            <a:ext cx="2670048" cy="1298448"/>
          </a:xfrm>
          <a:prstGeom prst="roundRect">
            <a:avLst>
              <a:gd name="adj" fmla="val 6338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859536" y="4242816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859536" y="4553712"/>
            <a:ext cx="22311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Card, digital wallet, bank transfer and cash — reconciled in one ledger, per property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593592" y="4069080"/>
            <a:ext cx="2670048" cy="1298448"/>
          </a:xfrm>
          <a:prstGeom prst="roundRect">
            <a:avLst>
              <a:gd name="adj" fmla="val 6338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3813048" y="4242816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on file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3813048" y="4553712"/>
            <a:ext cx="22311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Tokenised for pre-authorisation, incidentals and no-show charges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547104" y="4069080"/>
            <a:ext cx="2670048" cy="1298448"/>
          </a:xfrm>
          <a:prstGeom prst="roundRect">
            <a:avLst>
              <a:gd name="adj" fmla="val 6338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766560" y="4242816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 billing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6766560" y="4553712"/>
            <a:ext cx="22311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by guest, item or company; city ledger for corporate and group accounts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9500616" y="4069080"/>
            <a:ext cx="2670048" cy="1298448"/>
          </a:xfrm>
          <a:prstGeom prst="roundRect">
            <a:avLst>
              <a:gd name="adj" fmla="val 6338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9720072" y="4242816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scope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9720072" y="4553712"/>
            <a:ext cx="22311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data goes device to acquirer. We hold a token, never a card number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&amp; BEVERAGE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ways to order. One kitchen.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2670048" cy="1965960"/>
          </a:xfrm>
          <a:prstGeom prst="roundRect">
            <a:avLst>
              <a:gd name="adj" fmla="val 418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9536" y="184708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59536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59536" y="235915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table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859536" y="2688336"/>
            <a:ext cx="22311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on a tablet, or the guest scans the code and orders without waiting.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593592" y="1645920"/>
            <a:ext cx="2670048" cy="1965960"/>
          </a:xfrm>
          <a:prstGeom prst="roundRect">
            <a:avLst>
              <a:gd name="adj" fmla="val 418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813048" y="184708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813048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813048" y="235915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bar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813048" y="2688336"/>
            <a:ext cx="22311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Tabs that follow the guest and close to the room, not to a card at the till.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547104" y="1645920"/>
            <a:ext cx="2670048" cy="1965960"/>
          </a:xfrm>
          <a:prstGeom prst="roundRect">
            <a:avLst>
              <a:gd name="adj" fmla="val 418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766560" y="184708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66560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235915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room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2688336"/>
            <a:ext cx="22311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In-room dining on the television or the phone, posted to the folio automatically.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500616" y="1645920"/>
            <a:ext cx="2670048" cy="1965960"/>
          </a:xfrm>
          <a:prstGeom prst="roundRect">
            <a:avLst>
              <a:gd name="adj" fmla="val 418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720072" y="184708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720072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720072" y="235915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Anywhere on site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9720072" y="2688336"/>
            <a:ext cx="22311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Poolside, lobby, terrace. The code carries the location; the order knows where to go.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3840480"/>
            <a:ext cx="10911535" cy="1481328"/>
          </a:xfrm>
          <a:prstGeom prst="roundRect">
            <a:avLst>
              <a:gd name="adj" fmla="val 5556"/>
            </a:avLst>
          </a:prstGeom>
          <a:solidFill>
            <a:srgbClr val="0B1220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987552" y="40416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Behind all four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4407408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 display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4681728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Tickets routed by prep station, courses fired in order, bar split from kitchen.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4599432" y="4407408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menu control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4599432" y="4681728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an item once and it clears the television, the codes and the tablets at once.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8211312" y="4407408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Margin, not just revenue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8211312" y="4681728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Recipe costing and stock depletion roll outlet profitability up to the group.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CONCIERGE &amp; SERVICE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request in one queue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guest asks by television, by phone, by chat or at the desk. Staff see one list. Head office sees whether the brand standard was met.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120640" cy="3200400"/>
          </a:xfrm>
          <a:prstGeom prst="roundRect">
            <a:avLst>
              <a:gd name="adj" fmla="val 2571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87552" y="237744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request moves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87552" y="2798064"/>
            <a:ext cx="310896" cy="31089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87552" y="27980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426464" y="2816352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Raised — from any channel, tagged to the stay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987552" y="3282696"/>
            <a:ext cx="310896" cy="31089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87552" y="32826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426464" y="3300984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Classified — type, priority, target time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87552" y="3767328"/>
            <a:ext cx="310896" cy="31089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7552" y="3767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426464" y="3785616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Assigned — to a person, not to a department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87552" y="4251960"/>
            <a:ext cx="310896" cy="31089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87552" y="42519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426464" y="4270248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Clocked — the SLA runs, and escalates if it breaches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87552" y="4736592"/>
            <a:ext cx="310896" cy="31089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87552" y="47365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426464" y="4754880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— logged against the guest, the room and the property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126480" y="2148840"/>
            <a:ext cx="5425135" cy="1005840"/>
          </a:xfrm>
          <a:prstGeom prst="roundRect">
            <a:avLst>
              <a:gd name="adj" fmla="val 8182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6455664" y="231343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Housekeeping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6455664" y="26243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status, turn-down, linen, inspection and out-of-order rooms on one board.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26480" y="3246120"/>
            <a:ext cx="5425135" cy="1005840"/>
          </a:xfrm>
          <a:prstGeom prst="roundRect">
            <a:avLst>
              <a:gd name="adj" fmla="val 8182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6455664" y="34107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6455664" y="37216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orders with asset history, so a recurring fault becomes visible as a pattern.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126480" y="4343400"/>
            <a:ext cx="5425135" cy="1005840"/>
          </a:xfrm>
          <a:prstGeom prst="roundRect">
            <a:avLst>
              <a:gd name="adj" fmla="val 8182"/>
            </a:avLst>
          </a:prstGeom>
          <a:solidFill>
            <a:srgbClr val="FBF6E9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6455664" y="450799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standard reporting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6455664" y="481888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attainment per property, comparable across the estate, without a manual audit.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1097280"/>
            <a:ext cx="3291840" cy="4663440"/>
          </a:xfrm>
          <a:prstGeom prst="roundRect">
            <a:avLst>
              <a:gd name="adj" fmla="val 5556"/>
            </a:avLst>
          </a:prstGeom>
          <a:solidFill>
            <a:srgbClr val="3FB6A8">
              <a:alpha val="9000"/>
            </a:srgbClr>
          </a:solidFill>
          <a:ln w="12700">
            <a:solidFill>
              <a:srgbClr val="3FB6A8">
                <a:alpha val="2000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20574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D4A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97180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devices in the room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8404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things a guest touches once the door closes: the screen on the wall and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handset beside the bed. Both bought locally in most estates. Both ours to fix.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GUEST HUB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television into the hotel itself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6492240" cy="3657600"/>
          </a:xfrm>
          <a:prstGeom prst="roundRect">
            <a:avLst>
              <a:gd name="adj" fmla="val 2250"/>
            </a:avLst>
          </a:prstGeom>
          <a:solidFill>
            <a:srgbClr val="0A0613"/>
          </a:solidFill>
          <a:ln w="25400">
            <a:solidFill>
              <a:srgbClr val="27354F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58368" y="1709928"/>
            <a:ext cx="1371600" cy="3621024"/>
          </a:xfrm>
          <a:prstGeom prst="roundRect">
            <a:avLst>
              <a:gd name="adj" fmla="val 5333"/>
            </a:avLst>
          </a:prstGeom>
          <a:solidFill>
            <a:srgbClr val="120C22"/>
          </a:solidFill>
          <a:ln w="12700">
            <a:solidFill>
              <a:srgbClr val="241A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1847088"/>
            <a:ext cx="182880" cy="182880"/>
          </a:xfrm>
          <a:prstGeom prst="ellipse">
            <a:avLst/>
          </a:prstGeom>
          <a:solidFill>
            <a:srgbClr val="3A2560"/>
          </a:solidFill>
          <a:ln w="12700">
            <a:solidFill>
              <a:srgbClr val="553A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24128" y="1810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Orph</a:t>
            </a:r>
            <a:pPr indent="0" marL="0">
              <a:buNone/>
            </a:pPr>
            <a:r>
              <a:rPr lang="en-US" sz="1100" b="1" dirty="0">
                <a:solidFill>
                  <a:srgbClr val="F05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68096" y="2249424"/>
            <a:ext cx="1152144" cy="237744"/>
          </a:xfrm>
          <a:prstGeom prst="roundRect">
            <a:avLst>
              <a:gd name="adj" fmla="val 19231"/>
            </a:avLst>
          </a:prstGeom>
          <a:solidFill>
            <a:srgbClr val="231640"/>
          </a:solidFill>
          <a:ln w="12700">
            <a:solidFill>
              <a:srgbClr val="23164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59536" y="2249424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859536" y="2523744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A79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TV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859536" y="2798064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A79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Movies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859536" y="3072384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A79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TV Shows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859536" y="3346704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A79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786384" y="3648456"/>
            <a:ext cx="1115568" cy="0"/>
          </a:xfrm>
          <a:prstGeom prst="line">
            <a:avLst/>
          </a:prstGeom>
          <a:noFill/>
          <a:ln w="12700">
            <a:solidFill>
              <a:srgbClr val="241A3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86384" y="3712464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spc="120" kern="0" dirty="0">
                <a:solidFill>
                  <a:srgbClr val="6B6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STAY</a:t>
            </a:r>
            <a:endParaRPr lang="en-US" sz="550" dirty="0"/>
          </a:p>
        </p:txBody>
      </p:sp>
      <p:sp>
        <p:nvSpPr>
          <p:cNvPr id="16" name="Text 14"/>
          <p:cNvSpPr txBox="1"/>
          <p:nvPr/>
        </p:nvSpPr>
        <p:spPr>
          <a:xfrm>
            <a:off x="859536" y="3931920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A79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Dining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859536" y="4206240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A79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Concierge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859536" y="4480560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A79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Bill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2148840" y="181051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Good evening, Ms Reyes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148840" y="2084832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C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nights remaining  ·  Gold member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5897880" y="1810512"/>
            <a:ext cx="1143000" cy="237744"/>
          </a:xfrm>
          <a:prstGeom prst="roundRect">
            <a:avLst>
              <a:gd name="adj" fmla="val 50000"/>
            </a:avLst>
          </a:prstGeom>
          <a:solidFill>
            <a:srgbClr val="1A1130"/>
          </a:solidFill>
          <a:ln w="12700">
            <a:solidFill>
              <a:srgbClr val="2E215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897880" y="1810512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CFC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812 · Gold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2148840" y="2395728"/>
            <a:ext cx="4892040" cy="1024128"/>
          </a:xfrm>
          <a:prstGeom prst="roundRect">
            <a:avLst>
              <a:gd name="adj" fmla="val 6250"/>
            </a:avLst>
          </a:prstGeom>
          <a:solidFill>
            <a:srgbClr val="2A1A4A"/>
          </a:solidFill>
          <a:ln w="12700">
            <a:solidFill>
              <a:srgbClr val="3A246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58568" y="2487168"/>
            <a:ext cx="548640" cy="841248"/>
          </a:xfrm>
          <a:prstGeom prst="roundRect">
            <a:avLst>
              <a:gd name="adj" fmla="val 6667"/>
            </a:avLst>
          </a:prstGeom>
          <a:solidFill>
            <a:srgbClr val="8E5A6B"/>
          </a:solidFill>
          <a:ln w="12700">
            <a:solidFill>
              <a:srgbClr val="8E5A6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907792" y="2505456"/>
            <a:ext cx="1280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spc="100" kern="0" dirty="0">
                <a:solidFill>
                  <a:srgbClr val="C77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FEATURED</a:t>
            </a:r>
            <a:endParaRPr lang="en-US" sz="550" dirty="0"/>
          </a:p>
        </p:txBody>
      </p:sp>
      <p:sp>
        <p:nvSpPr>
          <p:cNvPr id="26" name="Text 24"/>
          <p:cNvSpPr txBox="1"/>
          <p:nvPr/>
        </p:nvSpPr>
        <p:spPr>
          <a:xfrm>
            <a:off x="2907792" y="26426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Romance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2907792" y="2880360"/>
            <a:ext cx="2194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C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 ·  Movies  ·  ★ R</a:t>
            </a:r>
            <a:endParaRPr lang="en-US" sz="650" dirty="0"/>
          </a:p>
        </p:txBody>
      </p:sp>
      <p:sp>
        <p:nvSpPr>
          <p:cNvPr id="28" name="Shape 26"/>
          <p:cNvSpPr/>
          <p:nvPr/>
        </p:nvSpPr>
        <p:spPr>
          <a:xfrm>
            <a:off x="2907792" y="3072384"/>
            <a:ext cx="896112" cy="201168"/>
          </a:xfrm>
          <a:prstGeom prst="roundRect">
            <a:avLst>
              <a:gd name="adj" fmla="val 18182"/>
            </a:avLst>
          </a:prstGeom>
          <a:solidFill>
            <a:srgbClr val="B94AE8"/>
          </a:solidFill>
          <a:ln w="12700">
            <a:solidFill>
              <a:srgbClr val="B94AE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07792" y="3072384"/>
            <a:ext cx="896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Watch now</a:t>
            </a:r>
            <a:endParaRPr lang="en-US" sz="650" dirty="0"/>
          </a:p>
        </p:txBody>
      </p:sp>
      <p:sp>
        <p:nvSpPr>
          <p:cNvPr id="30" name="Text 28"/>
          <p:cNvSpPr txBox="1"/>
          <p:nvPr/>
        </p:nvSpPr>
        <p:spPr>
          <a:xfrm>
            <a:off x="2148840" y="356616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120" kern="0" dirty="0">
                <a:solidFill>
                  <a:srgbClr val="C77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ADDED MOVIES</a:t>
            </a:r>
            <a:endParaRPr lang="en-US" sz="650" dirty="0"/>
          </a:p>
        </p:txBody>
      </p:sp>
      <p:sp>
        <p:nvSpPr>
          <p:cNvPr id="31" name="Text 29"/>
          <p:cNvSpPr txBox="1"/>
          <p:nvPr/>
        </p:nvSpPr>
        <p:spPr>
          <a:xfrm>
            <a:off x="6309360" y="356616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9C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all →</a:t>
            </a:r>
            <a:endParaRPr lang="en-US" sz="600" dirty="0"/>
          </a:p>
        </p:txBody>
      </p:sp>
      <p:sp>
        <p:nvSpPr>
          <p:cNvPr id="32" name="Shape 30"/>
          <p:cNvSpPr/>
          <p:nvPr/>
        </p:nvSpPr>
        <p:spPr>
          <a:xfrm>
            <a:off x="2148840" y="3785616"/>
            <a:ext cx="859536" cy="896112"/>
          </a:xfrm>
          <a:prstGeom prst="roundRect">
            <a:avLst>
              <a:gd name="adj" fmla="val 5319"/>
            </a:avLst>
          </a:prstGeom>
          <a:solidFill>
            <a:srgbClr val="8A3B22"/>
          </a:solidFill>
          <a:ln w="19050">
            <a:solidFill>
              <a:srgbClr val="C77B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41448" y="4096512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441448" y="4096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0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2148840" y="4727448"/>
            <a:ext cx="8961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pPr indent="0" marL="0">
              <a:buNone/>
            </a:pPr>
            <a:r>
              <a:rPr lang="en-US" sz="6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Hunt</a:t>
            </a:r>
            <a:endParaRPr lang="en-US" sz="500" dirty="0"/>
          </a:p>
        </p:txBody>
      </p:sp>
      <p:sp>
        <p:nvSpPr>
          <p:cNvPr id="36" name="Text 34"/>
          <p:cNvSpPr txBox="1"/>
          <p:nvPr/>
        </p:nvSpPr>
        <p:spPr>
          <a:xfrm>
            <a:off x="2148840" y="4873752"/>
            <a:ext cx="85953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dirty="0">
                <a:solidFill>
                  <a:srgbClr val="9C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550" dirty="0"/>
          </a:p>
        </p:txBody>
      </p:sp>
      <p:sp>
        <p:nvSpPr>
          <p:cNvPr id="37" name="Shape 35"/>
          <p:cNvSpPr/>
          <p:nvPr/>
        </p:nvSpPr>
        <p:spPr>
          <a:xfrm>
            <a:off x="3118104" y="3785616"/>
            <a:ext cx="859536" cy="896112"/>
          </a:xfrm>
          <a:prstGeom prst="roundRect">
            <a:avLst>
              <a:gd name="adj" fmla="val 5319"/>
            </a:avLst>
          </a:prstGeom>
          <a:solidFill>
            <a:srgbClr val="3A4A5C"/>
          </a:solidFill>
          <a:ln w="12700">
            <a:solidFill>
              <a:srgbClr val="2A1C47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118104" y="4727448"/>
            <a:ext cx="8961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pPr indent="0" marL="0">
              <a:buNone/>
            </a:pPr>
            <a:r>
              <a:rPr lang="en-US" sz="6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Mile I</a:t>
            </a:r>
            <a:endParaRPr lang="en-US" sz="500" dirty="0"/>
          </a:p>
        </p:txBody>
      </p:sp>
      <p:sp>
        <p:nvSpPr>
          <p:cNvPr id="39" name="Text 37"/>
          <p:cNvSpPr txBox="1"/>
          <p:nvPr/>
        </p:nvSpPr>
        <p:spPr>
          <a:xfrm>
            <a:off x="3118104" y="4873752"/>
            <a:ext cx="85953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dirty="0">
                <a:solidFill>
                  <a:srgbClr val="9C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550" dirty="0"/>
          </a:p>
        </p:txBody>
      </p:sp>
      <p:sp>
        <p:nvSpPr>
          <p:cNvPr id="40" name="Shape 38"/>
          <p:cNvSpPr/>
          <p:nvPr/>
        </p:nvSpPr>
        <p:spPr>
          <a:xfrm>
            <a:off x="4087368" y="3785616"/>
            <a:ext cx="859536" cy="896112"/>
          </a:xfrm>
          <a:prstGeom prst="roundRect">
            <a:avLst>
              <a:gd name="adj" fmla="val 5319"/>
            </a:avLst>
          </a:prstGeom>
          <a:solidFill>
            <a:srgbClr val="4A4438"/>
          </a:solidFill>
          <a:ln w="12700">
            <a:solidFill>
              <a:srgbClr val="2A1C47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4087368" y="4727448"/>
            <a:ext cx="8961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pPr indent="0" marL="0">
              <a:buNone/>
            </a:pPr>
            <a:r>
              <a:rPr lang="en-US" sz="6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Mile II</a:t>
            </a:r>
            <a:endParaRPr lang="en-US" sz="500" dirty="0"/>
          </a:p>
        </p:txBody>
      </p:sp>
      <p:sp>
        <p:nvSpPr>
          <p:cNvPr id="42" name="Text 40"/>
          <p:cNvSpPr txBox="1"/>
          <p:nvPr/>
        </p:nvSpPr>
        <p:spPr>
          <a:xfrm>
            <a:off x="4087368" y="4873752"/>
            <a:ext cx="85953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dirty="0">
                <a:solidFill>
                  <a:srgbClr val="9C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550" dirty="0"/>
          </a:p>
        </p:txBody>
      </p:sp>
      <p:sp>
        <p:nvSpPr>
          <p:cNvPr id="43" name="Shape 41"/>
          <p:cNvSpPr/>
          <p:nvPr/>
        </p:nvSpPr>
        <p:spPr>
          <a:xfrm>
            <a:off x="5056632" y="3785616"/>
            <a:ext cx="859536" cy="896112"/>
          </a:xfrm>
          <a:prstGeom prst="roundRect">
            <a:avLst>
              <a:gd name="adj" fmla="val 5319"/>
            </a:avLst>
          </a:prstGeom>
          <a:solidFill>
            <a:srgbClr val="6B2230"/>
          </a:solidFill>
          <a:ln w="12700">
            <a:solidFill>
              <a:srgbClr val="2A1C47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056632" y="4727448"/>
            <a:ext cx="8961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pPr indent="0" marL="0">
              <a:buNone/>
            </a:pPr>
            <a:r>
              <a:rPr lang="en-US" sz="6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Mercy</a:t>
            </a:r>
            <a:endParaRPr lang="en-US" sz="500" dirty="0"/>
          </a:p>
        </p:txBody>
      </p:sp>
      <p:sp>
        <p:nvSpPr>
          <p:cNvPr id="45" name="Text 43"/>
          <p:cNvSpPr txBox="1"/>
          <p:nvPr/>
        </p:nvSpPr>
        <p:spPr>
          <a:xfrm>
            <a:off x="5056632" y="4873752"/>
            <a:ext cx="85953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dirty="0">
                <a:solidFill>
                  <a:srgbClr val="9C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550" dirty="0"/>
          </a:p>
        </p:txBody>
      </p:sp>
      <p:sp>
        <p:nvSpPr>
          <p:cNvPr id="46" name="Shape 44"/>
          <p:cNvSpPr/>
          <p:nvPr/>
        </p:nvSpPr>
        <p:spPr>
          <a:xfrm>
            <a:off x="6025896" y="3785616"/>
            <a:ext cx="859536" cy="896112"/>
          </a:xfrm>
          <a:prstGeom prst="roundRect">
            <a:avLst>
              <a:gd name="adj" fmla="val 5319"/>
            </a:avLst>
          </a:prstGeom>
          <a:solidFill>
            <a:srgbClr val="8A6A2A"/>
          </a:solidFill>
          <a:ln w="12700">
            <a:solidFill>
              <a:srgbClr val="2A1C47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025896" y="4727448"/>
            <a:ext cx="8961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pPr indent="0" marL="0">
              <a:buNone/>
            </a:pPr>
            <a:r>
              <a:rPr lang="en-US" sz="6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Mexicali</a:t>
            </a:r>
            <a:endParaRPr lang="en-US" sz="500" dirty="0"/>
          </a:p>
        </p:txBody>
      </p:sp>
      <p:sp>
        <p:nvSpPr>
          <p:cNvPr id="48" name="Text 46"/>
          <p:cNvSpPr txBox="1"/>
          <p:nvPr/>
        </p:nvSpPr>
        <p:spPr>
          <a:xfrm>
            <a:off x="6025896" y="4873752"/>
            <a:ext cx="85953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dirty="0">
                <a:solidFill>
                  <a:srgbClr val="9C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550" dirty="0"/>
          </a:p>
        </p:txBody>
      </p:sp>
      <p:sp>
        <p:nvSpPr>
          <p:cNvPr id="49" name="Text 47"/>
          <p:cNvSpPr txBox="1"/>
          <p:nvPr/>
        </p:nvSpPr>
        <p:spPr>
          <a:xfrm>
            <a:off x="7498080" y="1737360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the Orpheus product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7498080" y="2011680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application your subscribers use at home, running in a hospitality mode — not a hotel imitation of it.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7498080" y="2670048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on arrival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7498080" y="2944368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nights remaining and loyalty tier, drawn from the same record the front desk reads.</a:t>
            </a:r>
            <a:endParaRPr lang="en-US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7498080" y="3602736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Revenue, not just cost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7498080" y="3877056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remote reaches room service, the spa and the bar. The screen begins to earn.</a:t>
            </a:r>
            <a:endParaRPr lang="en-US" sz="1050" dirty="0"/>
          </a:p>
        </p:txBody>
      </p:sp>
      <p:sp>
        <p:nvSpPr>
          <p:cNvPr id="55" name="Text 53"/>
          <p:cNvSpPr txBox="1"/>
          <p:nvPr/>
        </p:nvSpPr>
        <p:spPr>
          <a:xfrm>
            <a:off x="7498080" y="4535424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stay is the subscriber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7498080" y="4809744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Entitlement is issued to the room for the dates of the stay. Profile, history and pairings are wiped at checkout.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AT ESTATE SCALE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box behind the television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4434840" y="13258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hotel TV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183880" y="13258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Orpheus Hospitality Suite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10911535" cy="621792"/>
          </a:xfrm>
          <a:prstGeom prst="roundRect">
            <a:avLst>
              <a:gd name="adj" fmla="val 8824"/>
            </a:avLst>
          </a:prstGeom>
          <a:solidFill>
            <a:srgbClr val="16223A"/>
          </a:solidFill>
          <a:ln w="12700">
            <a:solidFill>
              <a:srgbClr val="2735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1737360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per room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1737360"/>
            <a:ext cx="3611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set-top box, a power supply, an HDMI lead, a mount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737360"/>
            <a:ext cx="3154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Nothing. The application runs on the television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2450592"/>
            <a:ext cx="10911535" cy="621792"/>
          </a:xfrm>
          <a:prstGeom prst="roundRect">
            <a:avLst>
              <a:gd name="adj" fmla="val 8824"/>
            </a:avLst>
          </a:prstGeom>
          <a:solidFill>
            <a:srgbClr val="101A2C"/>
          </a:solidFill>
          <a:ln w="12700">
            <a:solidFill>
              <a:srgbClr val="273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2450592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per property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434840" y="2450592"/>
            <a:ext cx="3611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room cabled and provisioned individually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2450592"/>
            <a:ext cx="3154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firmware profile, cloned across the estate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80" y="3163824"/>
            <a:ext cx="10911535" cy="621792"/>
          </a:xfrm>
          <a:prstGeom prst="roundRect">
            <a:avLst>
              <a:gd name="adj" fmla="val 8824"/>
            </a:avLst>
          </a:prstGeom>
          <a:solidFill>
            <a:srgbClr val="16223A"/>
          </a:solidFill>
          <a:ln w="12700">
            <a:solidFill>
              <a:srgbClr val="27354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3163824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points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434840" y="3163824"/>
            <a:ext cx="3611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Box, power supply and cable — all guest-accessible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8183880" y="3163824"/>
            <a:ext cx="3154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television, already under warranty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" y="3877056"/>
            <a:ext cx="10911535" cy="621792"/>
          </a:xfrm>
          <a:prstGeom prst="roundRect">
            <a:avLst>
              <a:gd name="adj" fmla="val 8824"/>
            </a:avLst>
          </a:prstGeom>
          <a:solidFill>
            <a:srgbClr val="101A2C"/>
          </a:solidFill>
          <a:ln w="12700">
            <a:solidFill>
              <a:srgbClr val="27354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4400" y="3877056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input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434840" y="3877056"/>
            <a:ext cx="3611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remote, and a lesson in which one to use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8183880" y="3877056"/>
            <a:ext cx="3154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remote that came with the television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0080" y="4590288"/>
            <a:ext cx="10911535" cy="621792"/>
          </a:xfrm>
          <a:prstGeom prst="roundRect">
            <a:avLst>
              <a:gd name="adj" fmla="val 8824"/>
            </a:avLst>
          </a:prstGeom>
          <a:solidFill>
            <a:srgbClr val="16223A"/>
          </a:solidFill>
          <a:ln w="12700">
            <a:solidFill>
              <a:srgbClr val="27354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" y="4590288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 cycle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434840" y="4590288"/>
            <a:ext cx="3611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Boxes age and are replaced on their own cycle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8183880" y="4590288"/>
            <a:ext cx="3154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television capex plan you already have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629107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Android TV or Google TV hospitality models, which permit managed install and lockdown. Tizen and webOS estates run the same app on a small Android device until refresh.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ANDROID, END TO END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Android app. Every screen.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device that runs our application runs Android — the television in the room, the tablets on the floor, the handhelds in the corridor, the kiosk in the lobby. One application, one release train, one way to manage a device.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670048" cy="1874520"/>
          </a:xfrm>
          <a:prstGeom prst="roundRect">
            <a:avLst>
              <a:gd name="adj" fmla="val 4390"/>
            </a:avLst>
          </a:prstGeom>
          <a:solidFill>
            <a:srgbClr val="FBF6E9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77824" y="24688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In-room television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77824" y="303580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TV / Google TV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3346704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TCL, Sony, Hisense, Philips and others. The guest app runs on the set — nothing behind it.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593592" y="2286000"/>
            <a:ext cx="2670048" cy="1874520"/>
          </a:xfrm>
          <a:prstGeom prst="roundRect">
            <a:avLst>
              <a:gd name="adj" fmla="val 4390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831336" y="24688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Staff tablets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3831336" y="303580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831336" y="3346704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 and bar point of sale, kitchen display, housekeeping and inspection boards.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547104" y="2286000"/>
            <a:ext cx="2670048" cy="1874520"/>
          </a:xfrm>
          <a:prstGeom prst="roundRect">
            <a:avLst>
              <a:gd name="adj" fmla="val 4390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784848" y="24688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Handhelds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784848" y="303580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784848" y="3346704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Passport and ID capture at the desk or kerbside, order running, maintenance work orders.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500616" y="2286000"/>
            <a:ext cx="2670048" cy="1874520"/>
          </a:xfrm>
          <a:prstGeom prst="roundRect">
            <a:avLst>
              <a:gd name="adj" fmla="val 4390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738360" y="24688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Self-service kiosk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9738360" y="303580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738360" y="3346704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Lobby check-in, document capture and signature, key issue.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4343400"/>
            <a:ext cx="10911535" cy="1417320"/>
          </a:xfrm>
          <a:prstGeom prst="roundRect">
            <a:avLst>
              <a:gd name="adj" fmla="val 5806"/>
            </a:avLst>
          </a:prstGeom>
          <a:solidFill>
            <a:srgbClr val="0B1220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60120" y="45262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one operating system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60120" y="4828032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codebase and one release train, not four · one device-management enrolment for the whole estate · commodity hardware the group can source in any market · a single patch and security posture to put in front of your vendor review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0" y="45262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 quote, we survey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0" y="4828032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Television models per property, and whether they are Android hospitality SKUs · per-room network to each set · VLAN separation of guest and device traffic · multicast, where live television is carried over IP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629107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in-room handset is the exception — a SIP endpoint on your own PBX. Tizen and webOS sets are not native Android targets, and run the app on a small device until refresh.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CONTENT LAYER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Entertainment, powered by Orpheus Nations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27632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property negotiates with a distributor, assembles a library, or maintains a player. The entertainment layer is licensed centrally as part of the platform and deployed identically across the estate.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423160"/>
            <a:ext cx="2670048" cy="2011680"/>
          </a:xfrm>
          <a:prstGeom prst="roundRect">
            <a:avLst>
              <a:gd name="adj" fmla="val 4091"/>
            </a:avLst>
          </a:prstGeom>
          <a:solidFill>
            <a:srgbClr val="16223A"/>
          </a:solidFill>
          <a:ln w="12700">
            <a:solidFill>
              <a:srgbClr val="27354F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633472"/>
            <a:ext cx="402336" cy="402336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77824" y="2633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3145536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curated catalogue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77824" y="3675888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On-demand entertainment presented inside your interface, not a third party's.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593592" y="2423160"/>
            <a:ext cx="2670048" cy="2011680"/>
          </a:xfrm>
          <a:prstGeom prst="roundRect">
            <a:avLst>
              <a:gd name="adj" fmla="val 4091"/>
            </a:avLst>
          </a:prstGeom>
          <a:solidFill>
            <a:srgbClr val="16223A"/>
          </a:solidFill>
          <a:ln w="12700">
            <a:solidFill>
              <a:srgbClr val="27354F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831336" y="2633472"/>
            <a:ext cx="402336" cy="402336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831336" y="2633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831336" y="3145536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television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831336" y="3675888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and international channels with a proper programme guide, over the room network.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547104" y="2423160"/>
            <a:ext cx="2670048" cy="2011680"/>
          </a:xfrm>
          <a:prstGeom prst="roundRect">
            <a:avLst>
              <a:gd name="adj" fmla="val 4091"/>
            </a:avLst>
          </a:prstGeom>
          <a:solidFill>
            <a:srgbClr val="16223A"/>
          </a:solidFill>
          <a:ln w="12700">
            <a:solidFill>
              <a:srgbClr val="27354F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784848" y="2633472"/>
            <a:ext cx="402336" cy="402336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784848" y="2633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784848" y="3145536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guest's own services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784848" y="3675888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Casting and mirroring from their phone, so their subscriptions travel with them.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500616" y="2423160"/>
            <a:ext cx="2670048" cy="2011680"/>
          </a:xfrm>
          <a:prstGeom prst="roundRect">
            <a:avLst>
              <a:gd name="adj" fmla="val 4091"/>
            </a:avLst>
          </a:prstGeom>
          <a:solidFill>
            <a:srgbClr val="16223A"/>
          </a:solidFill>
          <a:ln w="12700">
            <a:solidFill>
              <a:srgbClr val="27354F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738360" y="2633472"/>
            <a:ext cx="402336" cy="402336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738360" y="2633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738360" y="3145536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channels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738360" y="3675888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information, dining, spa, events and promotion, alongside the entertainment.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0080" y="4617720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1A2438"/>
          </a:solidFill>
          <a:ln w="12700">
            <a:solidFill>
              <a:srgbClr val="27354F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960120" y="4617720"/>
            <a:ext cx="102714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entertainment is why the guest picks up the remote. Everything else in this deck is why the operator is glad they did.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phone beside the bed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9875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SIP handset registers to the PBX you already run. We do not replace your telephony — we give the handset the guest record, and we put the calls on the folio.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670048" cy="2103120"/>
          </a:xfrm>
          <a:prstGeom prst="roundRect">
            <a:avLst>
              <a:gd name="adj" fmla="val 3913"/>
            </a:avLst>
          </a:prstGeom>
          <a:solidFill>
            <a:srgbClr val="FBF6E9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9536" y="248716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59536" y="2487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59536" y="2999232"/>
            <a:ext cx="2231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PBX, unchanged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59536" y="3529584"/>
            <a:ext cx="22311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handset registers to your existing SIP platform. No forklift, no new call path, no carrier contract to renegotiate.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593592" y="2286000"/>
            <a:ext cx="2670048" cy="2103120"/>
          </a:xfrm>
          <a:prstGeom prst="roundRect">
            <a:avLst>
              <a:gd name="adj" fmla="val 3913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813048" y="248716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813048" y="2487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813048" y="2999232"/>
            <a:ext cx="2231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knows who is in the room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813048" y="3529584"/>
            <a:ext cx="22311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display carries the guest's name and language. Dial 0 and the desk sees the profile before the call is answered.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547104" y="2286000"/>
            <a:ext cx="2670048" cy="2103120"/>
          </a:xfrm>
          <a:prstGeom prst="roundRect">
            <a:avLst>
              <a:gd name="adj" fmla="val 3913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766560" y="248716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766560" y="2487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2999232"/>
            <a:ext cx="2231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Wake-up calls that work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766560" y="3529584"/>
            <a:ext cx="22311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from the handset, the television or the desk — one schedule, escalating to the desk if the guest does not answer.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500616" y="2286000"/>
            <a:ext cx="2670048" cy="2103120"/>
          </a:xfrm>
          <a:prstGeom prst="roundRect">
            <a:avLst>
              <a:gd name="adj" fmla="val 3913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720072" y="2487168"/>
            <a:ext cx="402336" cy="402336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720072" y="2487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720072" y="2999232"/>
            <a:ext cx="2231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on the folio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720072" y="3529584"/>
            <a:ext cx="22311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records priced and posted to the same folio as dinner and the minibar, through the same interface as every other outlet.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0080" y="4572000"/>
            <a:ext cx="10911535" cy="1234440"/>
          </a:xfrm>
          <a:prstGeom prst="roundRect">
            <a:avLst>
              <a:gd name="adj" fmla="val 6667"/>
            </a:avLst>
          </a:prstGeom>
          <a:solidFill>
            <a:srgbClr val="0B1220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960120" y="473659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carry extensions, not radios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960120" y="5029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PBX rings the Android handhelds housekeeping and maintenance already carry. One numbering plan, no separate DECT fleet to buy or maintain, and a service ticket that can call the guest back.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0" y="473659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calling, verified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400800" y="5029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emergency dialling with no prefix, simultaneous notification to the front desk, and a dispatchable location for every room — checked at survey against the rules of each market you operate in.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629107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Analogue handsets in older rooms bridge to the same PBX through an adapter — a room does not have to be rewired to join the platform.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GETS WHAT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Owner and operator want different things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branded estate the party funding the capital expenditure and the party setting the standard are rarely the same. The platform has to answer to both.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12848"/>
            <a:ext cx="5440680" cy="3200400"/>
          </a:xfrm>
          <a:prstGeom prst="roundRect">
            <a:avLst>
              <a:gd name="adj" fmla="val 2571"/>
            </a:avLst>
          </a:prstGeom>
          <a:solidFill>
            <a:srgbClr val="FBF6E9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1005840" y="243230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owner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27797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funds it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3154680"/>
            <a:ext cx="47091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Ancillary revenue per occupied room, from a screen that previously earned nothing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vendor contracts consolidated into one line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Set-top hardware removed from the refresh plan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Labour hours returned at the desk, the outlets and night audit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asset that improves on the schedule the televisions are replaced on anyway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83096" y="2212848"/>
            <a:ext cx="5440680" cy="3200400"/>
          </a:xfrm>
          <a:prstGeom prst="roundRect">
            <a:avLst>
              <a:gd name="adj" fmla="val 2571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848856" y="243230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operator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6848856" y="27797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 the standard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848856" y="3154680"/>
            <a:ext cx="47091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guest experience across every property, not one per procurement decision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SLAs measured continuously rather than by mystery shopper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standard compliance evidenced from operational data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preferences portable between properties in the estate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retention under one policy, enforced everywhere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29107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managed and franchised properties the split differs — we scope who signs, who pays and who is served, per agreement type.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COMMERCIAL CASE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platform pays for itself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effects, each measurable on a property P&amp;L and each multiplying by the number of properties. The chart is a worked model — we rebuild it on the group's real figures before proposal.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267712"/>
          <a:ext cx="68580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863840" y="2267712"/>
            <a:ext cx="3687775" cy="3108960"/>
          </a:xfrm>
          <a:prstGeom prst="roundRect">
            <a:avLst>
              <a:gd name="adj" fmla="val 2647"/>
            </a:avLst>
          </a:prstGeom>
          <a:solidFill>
            <a:srgbClr val="0B1220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183880" y="24871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this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2834640"/>
            <a:ext cx="3337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Bars are relative, not absolute. Ancillary revenue is set to 1.0 and the rest scaled against it.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two bars are revenue. The rest are cost — contracts not renewed, hours not worked, hardware not bought. They are the least visible effects and usually the most certain.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revenue is deliberately absent: guests use their own mobiles, and telephony earns its place here on cost and compliance, not on billed minutes.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629107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model only. No client figures have been used. Rebuilt on the group's own outlet revenue, vendor spend, payroll and capex plan at proposal stage.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READINESS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your vendor review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664208"/>
            <a:ext cx="3429000" cy="1481328"/>
          </a:xfrm>
          <a:prstGeom prst="roundRect">
            <a:avLst>
              <a:gd name="adj" fmla="val 555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96112" y="1847088"/>
            <a:ext cx="2916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documents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176272"/>
            <a:ext cx="29169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scans encrypted under a separately managed key, released only with a reason code, purged on a group-set retention clock.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471416" y="1664208"/>
            <a:ext cx="3429000" cy="1481328"/>
          </a:xfrm>
          <a:prstGeom prst="roundRect">
            <a:avLst>
              <a:gd name="adj" fmla="val 555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727448" y="1847088"/>
            <a:ext cx="2916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data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4727448" y="2176272"/>
            <a:ext cx="29169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touches the platform. Capture device to acquirer; we hold a token. PCI scope stays on the light-touch assessment.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302752" y="1664208"/>
            <a:ext cx="3429000" cy="1481328"/>
          </a:xfrm>
          <a:prstGeom prst="roundRect">
            <a:avLst>
              <a:gd name="adj" fmla="val 555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558784" y="1847088"/>
            <a:ext cx="2916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control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8558784" y="2176272"/>
            <a:ext cx="29169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and least-privilege, federated to your identity provider. Group sees the estate, property sees itself.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3383280"/>
            <a:ext cx="3429000" cy="1481328"/>
          </a:xfrm>
          <a:prstGeom prst="roundRect">
            <a:avLst>
              <a:gd name="adj" fmla="val 555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96112" y="3566160"/>
            <a:ext cx="2916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895344"/>
            <a:ext cx="29169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log of every state change. Every privileged read carries actor, time and reason, exportable for review.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471416" y="3383280"/>
            <a:ext cx="3429000" cy="1481328"/>
          </a:xfrm>
          <a:prstGeom prst="roundRect">
            <a:avLst>
              <a:gd name="adj" fmla="val 555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4727448" y="3566160"/>
            <a:ext cx="2916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residency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727448" y="3895344"/>
            <a:ext cx="29169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 per property and per region — a requirement for any operator across multiple jurisdictions.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302752" y="3383280"/>
            <a:ext cx="3429000" cy="1481328"/>
          </a:xfrm>
          <a:prstGeom prst="roundRect">
            <a:avLst>
              <a:gd name="adj" fmla="val 5556"/>
            </a:avLst>
          </a:prstGeom>
          <a:solidFill>
            <a:srgbClr val="FBF6E9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8558784" y="3566160"/>
            <a:ext cx="2916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8558784" y="3895344"/>
            <a:ext cx="29169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2 Type II and an independent penetration test are committed deliverables, completed before pilot sign-off.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29107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 is stated as a commitment with a date, not as a credential already held. Any claim to the contrary should be corrected before this deck is presented.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Pilot one property. Then the estate.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committed estate-wide before it is proven in a property the group chooses.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21408"/>
            <a:ext cx="10911535" cy="594360"/>
          </a:xfrm>
          <a:prstGeom prst="roundRect">
            <a:avLst>
              <a:gd name="adj" fmla="val 13846"/>
            </a:avLst>
          </a:prstGeom>
          <a:solidFill>
            <a:srgbClr val="FBF6E9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221992"/>
            <a:ext cx="393192" cy="393192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6112" y="2221992"/>
            <a:ext cx="393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121408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— survey &amp; foundation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121408"/>
            <a:ext cx="5623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Television and network survey. Guest record, identity capture and the document vault live in one property.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0287000" y="2121408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1–6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2798064"/>
            <a:ext cx="10911535" cy="594360"/>
          </a:xfrm>
          <a:prstGeom prst="roundRect">
            <a:avLst>
              <a:gd name="adj" fmla="val 13846"/>
            </a:avLst>
          </a:prstGeom>
          <a:solidFill>
            <a:srgbClr val="FBF6E9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96112" y="2898648"/>
            <a:ext cx="393192" cy="393192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2898648"/>
            <a:ext cx="393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2798064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— money &amp; the room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798064"/>
            <a:ext cx="5623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Payments, folio, one outlet, and the guest television application. The full guest journey, one site.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0287000" y="2798064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7–16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474720"/>
            <a:ext cx="10911535" cy="594360"/>
          </a:xfrm>
          <a:prstGeom prst="roundRect">
            <a:avLst>
              <a:gd name="adj" fmla="val 13846"/>
            </a:avLst>
          </a:prstGeom>
          <a:solidFill>
            <a:srgbClr val="FBF6E9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96112" y="3575304"/>
            <a:ext cx="393192" cy="393192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96112" y="3575304"/>
            <a:ext cx="393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463040" y="347472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— measure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0" y="3474720"/>
            <a:ext cx="5623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Ancillary revenue, SLA attainment and labour effect measured against the property's own baseline.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0287000" y="347472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17–20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4151376"/>
            <a:ext cx="10911535" cy="594360"/>
          </a:xfrm>
          <a:prstGeom prst="roundRect">
            <a:avLst>
              <a:gd name="adj" fmla="val 1384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96112" y="4251960"/>
            <a:ext cx="393192" cy="393192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96112" y="4251960"/>
            <a:ext cx="393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463040" y="4151376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4572000" y="4151376"/>
            <a:ext cx="5623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to five properties, deliberately mixed — different TV estates, different PMS versions, different markets.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0287000" y="4151376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6–10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4828032"/>
            <a:ext cx="10911535" cy="594360"/>
          </a:xfrm>
          <a:prstGeom prst="roundRect">
            <a:avLst>
              <a:gd name="adj" fmla="val 13846"/>
            </a:avLst>
          </a:prstGeom>
          <a:solidFill>
            <a:srgbClr val="F5F7FA"/>
          </a:solidFill>
          <a:ln w="12700">
            <a:solidFill>
              <a:srgbClr val="DFE5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22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96112" y="4928616"/>
            <a:ext cx="393192" cy="393192"/>
          </a:xfrm>
          <a:prstGeom prst="ellipse">
            <a:avLst/>
          </a:prstGeom>
          <a:solidFill>
            <a:srgbClr val="A87C1F"/>
          </a:solidFill>
          <a:ln w="12700">
            <a:solidFill>
              <a:srgbClr val="A87C1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96112" y="4928616"/>
            <a:ext cx="393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463040" y="4828032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Estate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4572000" y="4828032"/>
            <a:ext cx="5623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Standardised deployment runbook, regional teams, phased against the television refresh plan.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10287000" y="4828032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11+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640080" y="562356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A87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exists so the estate decision is made on measured results, not on this presentation.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8138160" y="-822960"/>
            <a:ext cx="2926080" cy="5486400"/>
          </a:xfrm>
          <a:prstGeom prst="roundRect">
            <a:avLst>
              <a:gd name="adj" fmla="val 6250"/>
            </a:avLst>
          </a:prstGeom>
          <a:solidFill>
            <a:srgbClr val="D4A94A">
              <a:alpha val="9000"/>
            </a:srgbClr>
          </a:solidFill>
          <a:ln w="12700">
            <a:solidFill>
              <a:srgbClr val="D4A94A">
                <a:alpha val="2000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100584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17320"/>
            <a:ext cx="6766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pilot property,</a:t>
            </a:r>
            <a:endParaRPr lang="en-US" sz="34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chosen by you,</a:t>
            </a:r>
            <a:endParaRPr lang="en-US" sz="34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 against</a:t>
            </a:r>
            <a:endParaRPr lang="en-US" sz="34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its own baseline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3657600"/>
            <a:ext cx="384048" cy="384048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657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363931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and vendor audit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343400" y="3639312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each property runs today, what it costs the group, and what the platform consolidates.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0080" y="4407408"/>
            <a:ext cx="384048" cy="384048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43891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scoping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343400" y="4389120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PMS, loyalty platform and identity provider — interfaces agreed and documented, not assumed.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5157216"/>
            <a:ext cx="384048" cy="384048"/>
          </a:xfrm>
          <a:prstGeom prst="ellipse">
            <a:avLst/>
          </a:prstGeom>
          <a:solidFill>
            <a:srgbClr val="D4A94A"/>
          </a:solidFill>
          <a:ln w="12700">
            <a:solidFill>
              <a:srgbClr val="D4A94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51572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513892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D4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proposal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343400" y="5138928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model rebuilt on your figures, with a measurement gate before any estate commitment.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6035040"/>
            <a:ext cx="10881360" cy="0"/>
          </a:xfrm>
          <a:prstGeom prst="line">
            <a:avLst/>
          </a:prstGeom>
          <a:noFill/>
          <a:ln w="12700">
            <a:solidFill>
              <a:srgbClr val="27354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Orpheus Hospitality Suite  ·  one guest record, every property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Orpheus Hospitality Suite</dc:title>
  <dc:subject>PptxGenJS Presentation</dc:subject>
  <dc:creator>Orpheus Hospitality Suite</dc:creator>
  <cp:lastModifiedBy>Orpheus Hospitality Suite</cp:lastModifiedBy>
  <cp:revision>1</cp:revision>
  <dcterms:created xsi:type="dcterms:W3CDTF">2026-09-03T01:43:10Z</dcterms:created>
  <dcterms:modified xsi:type="dcterms:W3CDTF">2026-09-03T01:43:10Z</dcterms:modified>
</cp:coreProperties>
</file>